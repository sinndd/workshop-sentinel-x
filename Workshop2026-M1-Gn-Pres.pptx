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Mémoire par conteneur</a:t>
            </a:r>
          </a:p>
        </c:rich>
      </c:tx>
      <c:layout/>
      <c:overlay val="0"/>
    </c:title>
    <c:autoTitleDeleted val="0"/>
    <c:plotArea>
      <c:layout/>
      <c:barChart>
        <c:barDir val="col"/>
        <c:grouping val="clustered"/>
        <c:varyColors val="0"/>
        <c:ser>
          <c:idx val="0"/>
          <c:order val="0"/>
          <c:tx>
            <c:strRef>
              <c:f>Sheet1!$B$1</c:f>
              <c:strCache>
                <c:ptCount val="1"/>
                <c:pt idx="0">
                  <c:v>Limite (Mo)</c:v>
                </c:pt>
              </c:strCache>
            </c:strRef>
          </c:tx>
          <c:spPr>
            <a:solidFill>
              <a:srgbClr val="64748B"/>
            </a:solidFill>
            <a:effectLst/>
          </c:spPr>
          <c:invertIfNegative val="0"/>
          <c:dLbls>
            <c:numFmt formatCode="#,##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cat>
            <c:multiLvlStrRef>
              <c:f>Sheet1!$A$2:$A$5</c:f>
              <c:multiLvlStrCache>
                <c:ptCount val="4"/>
                <c:lvl>
                  <c:pt idx="0">
                    <c:v>mosquitto</c:v>
                  </c:pt>
                  <c:pt idx="1">
                    <c:v>postgres</c:v>
                  </c:pt>
                  <c:pt idx="2">
                    <c:v>ingestor</c:v>
                  </c:pt>
                  <c:pt idx="3">
                    <c:v>api</c:v>
                  </c:pt>
                </c:lvl>
              </c:multiLvlStrCache>
            </c:multiLvlStrRef>
          </c:cat>
          <c:val>
            <c:numRef>
              <c:f>Sheet1!$B$2:$B$5</c:f>
              <c:numCache>
                <c:formatCode>General</c:formatCode>
                <c:ptCount val="4"/>
                <c:pt idx="0">
                  <c:v>32</c:v>
                </c:pt>
                <c:pt idx="1">
                  <c:v>160</c:v>
                </c:pt>
                <c:pt idx="2">
                  <c:v>64</c:v>
                </c:pt>
                <c:pt idx="3">
                  <c:v>128</c:v>
                </c:pt>
              </c:numCache>
            </c:numRef>
          </c:val>
        </c:ser>
        <c:ser>
          <c:idx val="1"/>
          <c:order val="1"/>
          <c:tx>
            <c:strRef>
              <c:f>Sheet1!$C$1</c:f>
              <c:strCache>
                <c:ptCount val="1"/>
                <c:pt idx="0">
                  <c:v>Mesuré (Mo)</c:v>
                </c:pt>
              </c:strCache>
            </c:strRef>
          </c:tx>
          <c:spPr>
            <a:solidFill>
              <a:srgbClr val="D90429"/>
            </a:solidFill>
            <a:effectLst/>
          </c:spPr>
          <c:invertIfNegative val="0"/>
          <c:dLbls>
            <c:numFmt formatCode="#,##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cat>
            <c:multiLvlStrRef>
              <c:f>Sheet1!$A$2:$A$5</c:f>
              <c:multiLvlStrCache>
                <c:ptCount val="4"/>
                <c:lvl>
                  <c:pt idx="0">
                    <c:v>mosquitto</c:v>
                  </c:pt>
                  <c:pt idx="1">
                    <c:v>postgres</c:v>
                  </c:pt>
                  <c:pt idx="2">
                    <c:v>ingestor</c:v>
                  </c:pt>
                  <c:pt idx="3">
                    <c:v>api</c:v>
                  </c:pt>
                </c:lvl>
              </c:multiLvlStrCache>
            </c:multiLvlStrRef>
          </c:cat>
          <c:val>
            <c:numRef>
              <c:f>Sheet1!$C$2:$C$5</c:f>
              <c:numCache>
                <c:formatCode>General</c:formatCode>
                <c:ptCount val="4"/>
                <c:pt idx="0">
                  <c:v>2.4</c:v>
                </c:pt>
                <c:pt idx="1">
                  <c:v>23</c:v>
                </c:pt>
                <c:pt idx="2">
                  <c:v>25</c:v>
                </c:pt>
                <c:pt idx="3">
                  <c:v>44</c:v>
                </c:pt>
              </c:numCache>
            </c:numRef>
          </c:val>
        </c:ser>
        <c:dLbls>
          <c:numFmt formatCode="#,##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22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B122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 1 (0:00-1:00) : présenter l'équipe (4 filières : DEV, IA, INFRA, CYBER) et rappeler la variante d'architecture retenue : ESP32 SENTINEL-X-CORE + PC Serveur Local (Raspberry Pi, point d'accès Wi-Fi 192.168.10.0/24). Puis lancer le teaser Sentinel Drop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du sujet : AetherCorp déploie des micro-centrales dans des zones isolées. Trois menaces simultanées : cyber, physique, environnemental. SENTINEL-X répond avec un boîtier de surveillance autonome (Edge Node) relié à un PC Serveur Local durci.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pilier du sujet correspond à un dossier du dépôt Git. Le chemin est indiqué sous chaque carte pour que le jury puisse retrouver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 : l'ESP32 publie télémétrie (2 s) et alertes en MQTTS vers Mosquitto. L'ingestor valide chaque JSON puis écrit par lots dans PostgreSQL. L'API décide des accès RFID, publie les commandes (sas, bras, alarme) et sert le dashboard derrière le proxy Caddy HTTPS. Le script de vision envoie les images annotées et les événements. Seuls 8883, 443/80 et 123/udp sont publiés ; PostgreSQL et l'API ne le sont jamais. Réseau de table : 192.168.10.0/24 via le point d'accès Wi-Fi du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firmware est en C++ (Arduino/PlatformIO) sur ESP32. Le sujet prévoit un ESP8266 : nous avons choisi un ESP32 (plus de GPIO, ADC 12 bits, accélération crypto matérielle pour TLS) avec un expanseur I2C MCP23017. Le badge n'ouvre la trappe que si le serveur accepte ET si la vérification locale (clé, signature, compteur) est valide. Hors ligne, la trappe reste fermée.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robot Wall-E est notre mascotte et le jumeau numérique du boîtier. Le FBX d'origine ne sépare pas les pièces : convert-model.mjs les découpe par position (corps, cou et tête, yeux, bras gauche et droit, trappe du dos) et place un pivot sans échelle sur chacune pour pouvoir les animer. Le résultat est un GLB lu directement par Three.js, sans décodeur WASM, compatible avec la politique de sécurité du dashboard (CSP script-src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position réelle des actionneurs est lue par GET /api/v1/actuators/state et envoyée au dashboard, qui anime le modèle. Dans l'autre sens, le superviseur déplace les bras ou la tête depuis le panneau de commande (POST /actuators/move). Code : dashboard/src/Robot.tsx et firmware/sentinel_core/sentinel_core.ino.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Panneau de contrôle réactif : le superviseur ouvre le sas, bouge les bras et la tête de Wall-E, déclenche ou coupe l'alarme, ou lance l'arrêt d'urgence (rôle opérateur). Le dashboard est compilé dans l'image de l'API. Code : api/app (routes.py, mqtt_bridge.py) et dashboard/src (Supervision.tsx, Robot.tsx).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modèles complémentaires : YOLO détecte une présence humaine, la reconnaissance faciale décide si elle est autorisée. Pour éviter les faux positifs, une personne inconnue doit être confirmée sur 3 images sur 5, avec un délai de 60 s entre deux déclenchements (unknown_alert.py). Isolation Forest apprend le comportement normal de chaque capteur et signale une dérive avant le seuil critique. Limite assumée : pas de détection de vivacité, une photo peut tromper dlib. Tests : tests/test_anomaly.py, test_vision.py, test_unknown_alert.py.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déployé par docker-compose up -d : Mosquitto, PostgreSQL, ingestor, API (avec le dashboard), proxy Caddy et NTP (chrony), plus deux réseaux (frontend et backend interne). Mesures réelles prises sur un hôte linux/arm64 après le smoke test et une rafale de 2000 messages ; les lignes OS et démon Docker du README sont des estimations à confirmer sur le Pi. Supervision : healthchecks toutes les 30 s, scripts/status.sh, sauvegardes pg_dump, installation hors ligne en une commande. Note : le sujet cite un Raspberry Pi 5 ; nous ciblons un Pi 3 B+ (1 Go), donc un budget mémoire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reprend la matrice du dossier technique. Preuves matérielles du chiffrement à montrer au jury : openssl s_client -tls1_1 refusé, connexion anonyme refusée, capture Wireshark illisible sur le port 8883. Détails : docs/SECURITE.md, README § 4, scripts/harden-host.sh, scripts/gen-certs.sh.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assumons les failles ouvertes devant le jury. docs/AUDIT-SECURITE.md liste 15 constats (F1 à F15) et docs/DOC-SITE-SECURITE.md une relecture plus récente, qui note que les anciennes valeurs par défaut sont toujours dans l'historique Git. Action avant le rendu : gen-env.sh --force, reflasher l'ESP32, purger l'historique ou republier dans un dépôt neuf. Le pentest croisé du jeudi (Nmap, Wireshark, MitM, DoS) complète ces contrôles : y ajouter les résultats observés.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3 à 5 : démonstration uniquement en direct, pas de diaporama statique. Prévoir : navigateur sur https://192.168.10.1/dashboard/, caméra branchée, script ./scripts/run-vision.sh lancé, badge autorisé et badge inconnu à portée, un plan B (enregistrement) si le Wi-Fi tombe. Ordre conseillé : capteurs, badge, caméra,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Transparence devant le jury : montrer qu'on connaît les limites de la solution fait partie de la rigueur d'ingénierie. Chaque écart est justifié et documenté dans le dépôt (docs/BADGES.md, docs/VISAGES.md, docs/esp32_centralise).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et ouverture aux questions. Rappeler le slogan du sujet : « Sentinel-X : la sécurité à la bordure ». Documentation à citer : docs/CONTRAT-MQTT.md, docs/API.md, docs/SECURITE.md, docs/AUDIT-SECURITE.md.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SENTINEL-X · Workshop BAC+4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alo"/>
          <p:cNvSpPr/>
          <p:nvPr/>
        </p:nvSpPr>
        <p:spPr>
          <a:xfrm>
            <a:off x="6035040" y="822960"/>
            <a:ext cx="2926080" cy="2926080"/>
          </a:xfrm>
          <a:prstGeom prst="ellipse">
            <a:avLst/>
          </a:prstGeom>
          <a:solidFill>
            <a:schemeClr val="accent1">
              <a:alpha val="20000"/>
            </a:schemeClr>
          </a:solidFill>
          <a:ln w="12700">
            <a:solidFill>
              <a:schemeClr val="accent1"/>
            </a:solidFill>
            <a:prstDash val="solid"/>
          </a:ln>
        </p:spPr>
      </p:sp>
      <p:sp>
        <p:nvSpPr>
          <p:cNvPr id="3" name="Logo bouclier cercle"/>
          <p:cNvSpPr/>
          <p:nvPr/>
        </p:nvSpPr>
        <p:spPr>
          <a:xfrm>
            <a:off x="6720840" y="1508760"/>
            <a:ext cx="1554480" cy="1554480"/>
          </a:xfrm>
          <a:prstGeom prst="ellipse">
            <a:avLst/>
          </a:prstGeom>
          <a:solidFill>
            <a:schemeClr val="accent1"/>
          </a:solidFill>
          <a:ln w="12700">
            <a:solidFill>
              <a:schemeClr val="accent1"/>
            </a:solidFill>
            <a:prstDash val="solid"/>
          </a:ln>
        </p:spPr>
      </p:sp>
      <p:pic>
        <p:nvPicPr>
          <p:cNvPr id="4" name="Logo bouclier" descr="Logo bouclier">    </p:cNvPr>
          <p:cNvPicPr>
            <a:picLocks noChangeAspect="1"/>
          </p:cNvPicPr>
          <p:nvPr/>
        </p:nvPicPr>
        <p:blipFill>
          <a:blip r:embed="rId1"/>
          <a:stretch>
            <a:fillRect/>
          </a:stretch>
        </p:blipFill>
        <p:spPr>
          <a:xfrm>
            <a:off x="7109460" y="1897380"/>
            <a:ext cx="777240" cy="777240"/>
          </a:xfrm>
          <a:prstGeom prst="rect">
            <a:avLst/>
          </a:prstGeom>
        </p:spPr>
      </p:pic>
      <p:sp>
        <p:nvSpPr>
          <p:cNvPr id="5" name="Text 2"/>
          <p:cNvSpPr txBox="1"/>
          <p:nvPr/>
        </p:nvSpPr>
        <p:spPr>
          <a:xfrm>
            <a:off x="548640" y="914400"/>
            <a:ext cx="54864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WORKSHOP NATIONAL BAC+4 · SESSION OCTOBRE 2026</a:t>
            </a:r>
            <a:endParaRPr lang="en-US" sz="1200" dirty="0"/>
          </a:p>
        </p:txBody>
      </p:sp>
      <p:sp>
        <p:nvSpPr>
          <p:cNvPr id="6" name="Text 3"/>
          <p:cNvSpPr txBox="1"/>
          <p:nvPr/>
        </p:nvSpPr>
        <p:spPr>
          <a:xfrm>
            <a:off x="548640" y="1371600"/>
            <a:ext cx="548640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SENTINEL-X</a:t>
            </a:r>
            <a:endParaRPr lang="en-US" sz="5400" dirty="0"/>
          </a:p>
        </p:txBody>
      </p:sp>
      <p:sp>
        <p:nvSpPr>
          <p:cNvPr id="7" name="Text 4"/>
          <p:cNvSpPr txBox="1"/>
          <p:nvPr/>
        </p:nvSpPr>
        <p:spPr>
          <a:xfrm>
            <a:off x="548640" y="2331720"/>
            <a:ext cx="5486400" cy="457200"/>
          </a:xfrm>
          <a:prstGeom prst="rect">
            <a:avLst/>
          </a:prstGeom>
          <a:noFill/>
          <a:ln/>
        </p:spPr>
        <p:txBody>
          <a:bodyPr wrap="square" lIns="0" tIns="0" rIns="0" bIns="0" rtlCol="0" anchor="t"/>
          <a:lstStyle/>
          <a:p>
            <a:pPr indent="0" marL="0">
              <a:buNone/>
            </a:pPr>
            <a:r>
              <a:rPr lang="en-US" sz="2400" i="1" dirty="0">
                <a:solidFill>
                  <a:schemeClr val="accent1"/>
                </a:solidFill>
                <a:latin typeface="Cambria" pitchFamily="34" charset="0"/>
                <a:ea typeface="Cambria" pitchFamily="34" charset="-122"/>
                <a:cs typeface="Cambria" pitchFamily="34" charset="-120"/>
              </a:rPr>
              <a:t>La sécurité à la bordure</a:t>
            </a:r>
            <a:endParaRPr lang="en-US" sz="2400" dirty="0"/>
          </a:p>
        </p:txBody>
      </p:sp>
      <p:sp>
        <p:nvSpPr>
          <p:cNvPr id="8" name="Text 5"/>
          <p:cNvSpPr txBox="1"/>
          <p:nvPr/>
        </p:nvSpPr>
        <p:spPr>
          <a:xfrm>
            <a:off x="548640" y="3017520"/>
            <a:ext cx="5303520" cy="822960"/>
          </a:xfrm>
          <a:prstGeom prst="rect">
            <a:avLst/>
          </a:prstGeom>
          <a:noFill/>
          <a:ln/>
        </p:spPr>
        <p:txBody>
          <a:bodyPr wrap="square" lIns="0" tIns="0" rIns="0" bIns="0" rtlCol="0" anchor="t"/>
          <a:lstStyle/>
          <a:p>
            <a:pPr indent="0" marL="0">
              <a:buNone/>
            </a:pPr>
            <a:r>
              <a:rPr lang="en-US" sz="1600" dirty="0">
                <a:solidFill>
                  <a:schemeClr val="accent6"/>
                </a:solidFill>
              </a:rPr>
              <a:t>L'avant-poste industriel du futur : un Edge Node autonome, chiffré de bout en bout, relié à un centre de commandement local doté d'IA.</a:t>
            </a:r>
            <a:endParaRPr lang="en-US" sz="1600" dirty="0"/>
          </a:p>
        </p:txBody>
      </p:sp>
      <p:sp>
        <p:nvSpPr>
          <p:cNvPr id="9" name="Text 6"/>
          <p:cNvSpPr txBox="1"/>
          <p:nvPr/>
        </p:nvSpPr>
        <p:spPr>
          <a:xfrm>
            <a:off x="548640" y="448056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Support de soutenance · Consortium AetherCorp Industrial Solutions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Trois menaces simultanées</a:t>
            </a:r>
            <a:endParaRPr lang="en-US" sz="3000" dirty="0"/>
          </a:p>
        </p:txBody>
      </p:sp>
      <p:sp>
        <p:nvSpPr>
          <p:cNvPr id="3" name="Carte menace 1"/>
          <p:cNvSpPr/>
          <p:nvPr/>
        </p:nvSpPr>
        <p:spPr>
          <a:xfrm>
            <a:off x="457200" y="1280160"/>
            <a:ext cx="256032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ône Cyberattaques cercle"/>
          <p:cNvSpPr/>
          <p:nvPr/>
        </p:nvSpPr>
        <p:spPr>
          <a:xfrm>
            <a:off x="685800" y="1508760"/>
            <a:ext cx="640080" cy="640080"/>
          </a:xfrm>
          <a:prstGeom prst="ellipse">
            <a:avLst/>
          </a:prstGeom>
          <a:solidFill>
            <a:srgbClr val="D90429"/>
          </a:solidFill>
          <a:ln w="12700">
            <a:solidFill>
              <a:srgbClr val="D90429"/>
            </a:solidFill>
            <a:prstDash val="solid"/>
          </a:ln>
        </p:spPr>
      </p:sp>
      <p:pic>
        <p:nvPicPr>
          <p:cNvPr id="5" name="Icône Cyberattaques" descr="Icône Cyberattaques">    </p:cNvPr>
          <p:cNvPicPr>
            <a:picLocks noChangeAspect="1"/>
          </p:cNvPicPr>
          <p:nvPr/>
        </p:nvPicPr>
        <p:blipFill>
          <a:blip r:embed="rId1"/>
          <a:stretch>
            <a:fillRect/>
          </a:stretch>
        </p:blipFill>
        <p:spPr>
          <a:xfrm>
            <a:off x="845820" y="1668780"/>
            <a:ext cx="320040" cy="320040"/>
          </a:xfrm>
          <a:prstGeom prst="rect">
            <a:avLst/>
          </a:prstGeom>
        </p:spPr>
      </p:pic>
      <p:sp>
        <p:nvSpPr>
          <p:cNvPr id="6" name="Text 3"/>
          <p:cNvSpPr txBox="1"/>
          <p:nvPr/>
        </p:nvSpPr>
        <p:spPr>
          <a:xfrm>
            <a:off x="685800" y="2286000"/>
            <a:ext cx="21488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Cyberattaques</a:t>
            </a:r>
            <a:endParaRPr lang="en-US" sz="1800" dirty="0"/>
          </a:p>
        </p:txBody>
      </p:sp>
      <p:sp>
        <p:nvSpPr>
          <p:cNvPr id="7" name="Text 4"/>
          <p:cNvSpPr txBox="1"/>
          <p:nvPr/>
        </p:nvSpPr>
        <p:spPr>
          <a:xfrm>
            <a:off x="685800" y="2651760"/>
            <a:ext cx="2148840" cy="868680"/>
          </a:xfrm>
          <a:prstGeom prst="rect">
            <a:avLst/>
          </a:prstGeom>
          <a:noFill/>
          <a:ln/>
        </p:spPr>
        <p:txBody>
          <a:bodyPr wrap="square" lIns="0" tIns="0" rIns="0" bIns="0" rtlCol="0" anchor="t"/>
          <a:lstStyle/>
          <a:p>
            <a:pPr indent="0" marL="0">
              <a:buNone/>
            </a:pPr>
            <a:r>
              <a:rPr lang="en-US" sz="1400" dirty="0">
                <a:solidFill>
                  <a:schemeClr val="tx2"/>
                </a:solidFill>
              </a:rPr>
              <a:t>Déstabilisation réseau, usurpation d'appareil, déni de service sur l'ingestion.</a:t>
            </a:r>
            <a:endParaRPr lang="en-US" sz="1400" dirty="0"/>
          </a:p>
        </p:txBody>
      </p:sp>
      <p:sp>
        <p:nvSpPr>
          <p:cNvPr id="8" name="Carte menace 2"/>
          <p:cNvSpPr/>
          <p:nvPr/>
        </p:nvSpPr>
        <p:spPr>
          <a:xfrm>
            <a:off x="3291840" y="1280160"/>
            <a:ext cx="256032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ône Intrusion physique cercle"/>
          <p:cNvSpPr/>
          <p:nvPr/>
        </p:nvSpPr>
        <p:spPr>
          <a:xfrm>
            <a:off x="3520440" y="1508760"/>
            <a:ext cx="640080" cy="640080"/>
          </a:xfrm>
          <a:prstGeom prst="ellipse">
            <a:avLst/>
          </a:prstGeom>
          <a:solidFill>
            <a:srgbClr val="F59E0B"/>
          </a:solidFill>
          <a:ln w="12700">
            <a:solidFill>
              <a:srgbClr val="F59E0B"/>
            </a:solidFill>
            <a:prstDash val="solid"/>
          </a:ln>
        </p:spPr>
      </p:sp>
      <p:pic>
        <p:nvPicPr>
          <p:cNvPr id="10" name="Icône Intrusion physique" descr="Icône Intrusion physique">    </p:cNvPr>
          <p:cNvPicPr>
            <a:picLocks noChangeAspect="1"/>
          </p:cNvPicPr>
          <p:nvPr/>
        </p:nvPicPr>
        <p:blipFill>
          <a:blip r:embed="rId2"/>
          <a:stretch>
            <a:fillRect/>
          </a:stretch>
        </p:blipFill>
        <p:spPr>
          <a:xfrm>
            <a:off x="3680460" y="1668780"/>
            <a:ext cx="320040" cy="320040"/>
          </a:xfrm>
          <a:prstGeom prst="rect">
            <a:avLst/>
          </a:prstGeom>
        </p:spPr>
      </p:pic>
      <p:sp>
        <p:nvSpPr>
          <p:cNvPr id="11" name="Text 7"/>
          <p:cNvSpPr txBox="1"/>
          <p:nvPr/>
        </p:nvSpPr>
        <p:spPr>
          <a:xfrm>
            <a:off x="3520440" y="2286000"/>
            <a:ext cx="21488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Intrusion physique</a:t>
            </a:r>
            <a:endParaRPr lang="en-US" sz="1800" dirty="0"/>
          </a:p>
        </p:txBody>
      </p:sp>
      <p:sp>
        <p:nvSpPr>
          <p:cNvPr id="12" name="Text 8"/>
          <p:cNvSpPr txBox="1"/>
          <p:nvPr/>
        </p:nvSpPr>
        <p:spPr>
          <a:xfrm>
            <a:off x="3520440" y="2651760"/>
            <a:ext cx="2148840" cy="868680"/>
          </a:xfrm>
          <a:prstGeom prst="rect">
            <a:avLst/>
          </a:prstGeom>
          <a:noFill/>
          <a:ln/>
        </p:spPr>
        <p:txBody>
          <a:bodyPr wrap="square" lIns="0" tIns="0" rIns="0" bIns="0" rtlCol="0" anchor="t"/>
          <a:lstStyle/>
          <a:p>
            <a:pPr indent="0" marL="0">
              <a:buNone/>
            </a:pPr>
            <a:r>
              <a:rPr lang="en-US" sz="1400" dirty="0">
                <a:solidFill>
                  <a:schemeClr val="tx2"/>
                </a:solidFill>
              </a:rPr>
              <a:t>Espionnage industriel : accès au local, badge copié, inconnu devant la caméra.</a:t>
            </a:r>
            <a:endParaRPr lang="en-US" sz="1400" dirty="0"/>
          </a:p>
        </p:txBody>
      </p:sp>
      <p:sp>
        <p:nvSpPr>
          <p:cNvPr id="13" name="Carte menace 3"/>
          <p:cNvSpPr/>
          <p:nvPr/>
        </p:nvSpPr>
        <p:spPr>
          <a:xfrm>
            <a:off x="6126480" y="1280160"/>
            <a:ext cx="256032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ône Fuite et surchauffe cercle"/>
          <p:cNvSpPr/>
          <p:nvPr/>
        </p:nvSpPr>
        <p:spPr>
          <a:xfrm>
            <a:off x="6355080" y="1508760"/>
            <a:ext cx="640080" cy="640080"/>
          </a:xfrm>
          <a:prstGeom prst="ellipse">
            <a:avLst/>
          </a:prstGeom>
          <a:solidFill>
            <a:srgbClr val="38BDF8"/>
          </a:solidFill>
          <a:ln w="12700">
            <a:solidFill>
              <a:srgbClr val="38BDF8"/>
            </a:solidFill>
            <a:prstDash val="solid"/>
          </a:ln>
        </p:spPr>
      </p:sp>
      <p:pic>
        <p:nvPicPr>
          <p:cNvPr id="15" name="Icône Fuite et surchauffe" descr="Icône Fuite et surchauffe">    </p:cNvPr>
          <p:cNvPicPr>
            <a:picLocks noChangeAspect="1"/>
          </p:cNvPicPr>
          <p:nvPr/>
        </p:nvPicPr>
        <p:blipFill>
          <a:blip r:embed="rId3"/>
          <a:stretch>
            <a:fillRect/>
          </a:stretch>
        </p:blipFill>
        <p:spPr>
          <a:xfrm>
            <a:off x="6515100" y="1668780"/>
            <a:ext cx="320040" cy="320040"/>
          </a:xfrm>
          <a:prstGeom prst="rect">
            <a:avLst/>
          </a:prstGeom>
        </p:spPr>
      </p:pic>
      <p:sp>
        <p:nvSpPr>
          <p:cNvPr id="16" name="Text 11"/>
          <p:cNvSpPr txBox="1"/>
          <p:nvPr/>
        </p:nvSpPr>
        <p:spPr>
          <a:xfrm>
            <a:off x="6355080" y="2286000"/>
            <a:ext cx="21488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Fuite et surchauffe</a:t>
            </a:r>
            <a:endParaRPr lang="en-US" sz="1800" dirty="0"/>
          </a:p>
        </p:txBody>
      </p:sp>
      <p:sp>
        <p:nvSpPr>
          <p:cNvPr id="17" name="Text 12"/>
          <p:cNvSpPr txBox="1"/>
          <p:nvPr/>
        </p:nvSpPr>
        <p:spPr>
          <a:xfrm>
            <a:off x="6355080" y="2651760"/>
            <a:ext cx="2148840" cy="868680"/>
          </a:xfrm>
          <a:prstGeom prst="rect">
            <a:avLst/>
          </a:prstGeom>
          <a:noFill/>
          <a:ln/>
        </p:spPr>
        <p:txBody>
          <a:bodyPr wrap="square" lIns="0" tIns="0" rIns="0" bIns="0" rtlCol="0" anchor="t"/>
          <a:lstStyle/>
          <a:p>
            <a:pPr indent="0" marL="0">
              <a:buNone/>
            </a:pPr>
            <a:r>
              <a:rPr lang="en-US" sz="1400" dirty="0">
                <a:solidFill>
                  <a:schemeClr val="tx2"/>
                </a:solidFill>
              </a:rPr>
              <a:t>Fuite de gaz combustible, surchauffe thermique, dérive lente avant l'incident.</a:t>
            </a:r>
            <a:endParaRPr lang="en-US" sz="1400" dirty="0"/>
          </a:p>
        </p:txBody>
      </p:sp>
      <p:sp>
        <p:nvSpPr>
          <p:cNvPr id="18" name="Text 13"/>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600" b="1" dirty="0">
                <a:solidFill>
                  <a:schemeClr val="accent1"/>
                </a:solidFill>
              </a:rPr>
              <a:t>Mission : </a:t>
            </a:r>
            <a:pPr indent="0" marL="0">
              <a:buNone/>
            </a:pPr>
            <a:r>
              <a:rPr lang="en-US" sz="1600" dirty="0">
                <a:solidFill>
                  <a:schemeClr val="tx1"/>
                </a:solidFill>
              </a:rPr>
              <a:t>livrer un prototype cyber-physique complet (boîtier, IA, conteneurs, supervision, sécurité défensive) sans personnel sur site.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Quatre piliers, quatre briques livrées</a:t>
            </a:r>
            <a:endParaRPr lang="en-US" sz="3000" dirty="0"/>
          </a:p>
        </p:txBody>
      </p:sp>
      <p:sp>
        <p:nvSpPr>
          <p:cNvPr id="3" name="Carte pilier 1"/>
          <p:cNvSpPr/>
          <p:nvPr/>
        </p:nvSpPr>
        <p:spPr>
          <a:xfrm>
            <a:off x="457200" y="118872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ône Edge &amp; IoT cercle"/>
          <p:cNvSpPr/>
          <p:nvPr/>
        </p:nvSpPr>
        <p:spPr>
          <a:xfrm>
            <a:off x="685800" y="1417320"/>
            <a:ext cx="640080" cy="640080"/>
          </a:xfrm>
          <a:prstGeom prst="ellipse">
            <a:avLst/>
          </a:prstGeom>
          <a:solidFill>
            <a:srgbClr val="D90429"/>
          </a:solidFill>
          <a:ln w="12700">
            <a:solidFill>
              <a:srgbClr val="D90429"/>
            </a:solidFill>
            <a:prstDash val="solid"/>
          </a:ln>
        </p:spPr>
      </p:sp>
      <p:pic>
        <p:nvPicPr>
          <p:cNvPr id="5" name="Icône Edge &amp; IoT" descr="Icône Edge &amp; IoT">    </p:cNvPr>
          <p:cNvPicPr>
            <a:picLocks noChangeAspect="1"/>
          </p:cNvPicPr>
          <p:nvPr/>
        </p:nvPicPr>
        <p:blipFill>
          <a:blip r:embed="rId1"/>
          <a:stretch>
            <a:fillRect/>
          </a:stretch>
        </p:blipFill>
        <p:spPr>
          <a:xfrm>
            <a:off x="845820" y="1577340"/>
            <a:ext cx="320040" cy="320040"/>
          </a:xfrm>
          <a:prstGeom prst="rect">
            <a:avLst/>
          </a:prstGeom>
        </p:spPr>
      </p:pic>
      <p:sp>
        <p:nvSpPr>
          <p:cNvPr id="6" name="Text 3"/>
          <p:cNvSpPr txBox="1"/>
          <p:nvPr/>
        </p:nvSpPr>
        <p:spPr>
          <a:xfrm>
            <a:off x="1508760" y="1371600"/>
            <a:ext cx="28346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Edge &amp; IoT</a:t>
            </a:r>
            <a:endParaRPr lang="en-US" sz="1800" dirty="0"/>
          </a:p>
        </p:txBody>
      </p:sp>
      <p:sp>
        <p:nvSpPr>
          <p:cNvPr id="7" name="Text 4"/>
          <p:cNvSpPr txBox="1"/>
          <p:nvPr/>
        </p:nvSpPr>
        <p:spPr>
          <a:xfrm>
            <a:off x="1508760" y="1737360"/>
            <a:ext cx="2834640" cy="685800"/>
          </a:xfrm>
          <a:prstGeom prst="rect">
            <a:avLst/>
          </a:prstGeom>
          <a:noFill/>
          <a:ln/>
        </p:spPr>
        <p:txBody>
          <a:bodyPr wrap="square" lIns="0" tIns="0" rIns="0" bIns="0" rtlCol="0" anchor="t"/>
          <a:lstStyle/>
          <a:p>
            <a:pPr indent="0" marL="0">
              <a:buNone/>
            </a:pPr>
            <a:r>
              <a:rPr lang="en-US" sz="1400" dirty="0">
                <a:solidFill>
                  <a:schemeClr val="tx2"/>
                </a:solidFill>
              </a:rPr>
              <a:t>Firmware ESP32 : gaz, température, humidité, PIR, RFID, écran OLED, servos.</a:t>
            </a:r>
            <a:endParaRPr lang="en-US" sz="1400" dirty="0"/>
          </a:p>
        </p:txBody>
      </p:sp>
      <p:sp>
        <p:nvSpPr>
          <p:cNvPr id="8" name="Text 5"/>
          <p:cNvSpPr txBox="1"/>
          <p:nvPr/>
        </p:nvSpPr>
        <p:spPr>
          <a:xfrm>
            <a:off x="1508760" y="2423160"/>
            <a:ext cx="2834640" cy="22860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firmware/sentinel_core</a:t>
            </a:r>
            <a:endParaRPr lang="en-US" sz="1100" dirty="0"/>
          </a:p>
        </p:txBody>
      </p:sp>
      <p:sp>
        <p:nvSpPr>
          <p:cNvPr id="9" name="Carte pilier 2"/>
          <p:cNvSpPr/>
          <p:nvPr/>
        </p:nvSpPr>
        <p:spPr>
          <a:xfrm>
            <a:off x="4663440" y="118872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ône IA locale cercle"/>
          <p:cNvSpPr/>
          <p:nvPr/>
        </p:nvSpPr>
        <p:spPr>
          <a:xfrm>
            <a:off x="4892040" y="1417320"/>
            <a:ext cx="640080" cy="640080"/>
          </a:xfrm>
          <a:prstGeom prst="ellipse">
            <a:avLst/>
          </a:prstGeom>
          <a:solidFill>
            <a:srgbClr val="38BDF8"/>
          </a:solidFill>
          <a:ln w="12700">
            <a:solidFill>
              <a:srgbClr val="38BDF8"/>
            </a:solidFill>
            <a:prstDash val="solid"/>
          </a:ln>
        </p:spPr>
      </p:sp>
      <p:pic>
        <p:nvPicPr>
          <p:cNvPr id="11" name="Icône IA locale" descr="Icône IA locale">    </p:cNvPr>
          <p:cNvPicPr>
            <a:picLocks noChangeAspect="1"/>
          </p:cNvPicPr>
          <p:nvPr/>
        </p:nvPicPr>
        <p:blipFill>
          <a:blip r:embed="rId2"/>
          <a:stretch>
            <a:fillRect/>
          </a:stretch>
        </p:blipFill>
        <p:spPr>
          <a:xfrm>
            <a:off x="5052060" y="1577340"/>
            <a:ext cx="320040" cy="320040"/>
          </a:xfrm>
          <a:prstGeom prst="rect">
            <a:avLst/>
          </a:prstGeom>
        </p:spPr>
      </p:pic>
      <p:sp>
        <p:nvSpPr>
          <p:cNvPr id="12" name="Text 8"/>
          <p:cNvSpPr txBox="1"/>
          <p:nvPr/>
        </p:nvSpPr>
        <p:spPr>
          <a:xfrm>
            <a:off x="5715000" y="1371600"/>
            <a:ext cx="28346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IA locale</a:t>
            </a:r>
            <a:endParaRPr lang="en-US" sz="1800" dirty="0"/>
          </a:p>
        </p:txBody>
      </p:sp>
      <p:sp>
        <p:nvSpPr>
          <p:cNvPr id="13" name="Text 9"/>
          <p:cNvSpPr txBox="1"/>
          <p:nvPr/>
        </p:nvSpPr>
        <p:spPr>
          <a:xfrm>
            <a:off x="5715000" y="1737360"/>
            <a:ext cx="2834640" cy="685800"/>
          </a:xfrm>
          <a:prstGeom prst="rect">
            <a:avLst/>
          </a:prstGeom>
          <a:noFill/>
          <a:ln/>
        </p:spPr>
        <p:txBody>
          <a:bodyPr wrap="square" lIns="0" tIns="0" rIns="0" bIns="0" rtlCol="0" anchor="t"/>
          <a:lstStyle/>
          <a:p>
            <a:pPr indent="0" marL="0">
              <a:buNone/>
            </a:pPr>
            <a:r>
              <a:rPr lang="en-US" sz="1400" dirty="0">
                <a:solidFill>
                  <a:schemeClr val="tx2"/>
                </a:solidFill>
              </a:rPr>
              <a:t>YOLOv8n, reconnaissance de visages, Isolation Forest sur les séries temporelles.</a:t>
            </a:r>
            <a:endParaRPr lang="en-US" sz="1400" dirty="0"/>
          </a:p>
        </p:txBody>
      </p:sp>
      <p:sp>
        <p:nvSpPr>
          <p:cNvPr id="14" name="Text 10"/>
          <p:cNvSpPr txBox="1"/>
          <p:nvPr/>
        </p:nvSpPr>
        <p:spPr>
          <a:xfrm>
            <a:off x="5715000" y="2423160"/>
            <a:ext cx="2834640" cy="22860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sentinel_x/ai</a:t>
            </a:r>
            <a:endParaRPr lang="en-US" sz="1100" dirty="0"/>
          </a:p>
        </p:txBody>
      </p:sp>
      <p:sp>
        <p:nvSpPr>
          <p:cNvPr id="15" name="Carte pilier 3"/>
          <p:cNvSpPr/>
          <p:nvPr/>
        </p:nvSpPr>
        <p:spPr>
          <a:xfrm>
            <a:off x="457200" y="297180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ône Infrastructure cercle"/>
          <p:cNvSpPr/>
          <p:nvPr/>
        </p:nvSpPr>
        <p:spPr>
          <a:xfrm>
            <a:off x="685800" y="3200400"/>
            <a:ext cx="640080" cy="640080"/>
          </a:xfrm>
          <a:prstGeom prst="ellipse">
            <a:avLst/>
          </a:prstGeom>
          <a:solidFill>
            <a:srgbClr val="16A34A"/>
          </a:solidFill>
          <a:ln w="12700">
            <a:solidFill>
              <a:srgbClr val="16A34A"/>
            </a:solidFill>
            <a:prstDash val="solid"/>
          </a:ln>
        </p:spPr>
      </p:sp>
      <p:pic>
        <p:nvPicPr>
          <p:cNvPr id="17" name="Icône Infrastructure" descr="Icône Infrastructure">    </p:cNvPr>
          <p:cNvPicPr>
            <a:picLocks noChangeAspect="1"/>
          </p:cNvPicPr>
          <p:nvPr/>
        </p:nvPicPr>
        <p:blipFill>
          <a:blip r:embed="rId3"/>
          <a:stretch>
            <a:fillRect/>
          </a:stretch>
        </p:blipFill>
        <p:spPr>
          <a:xfrm>
            <a:off x="845820" y="3360420"/>
            <a:ext cx="320040" cy="320040"/>
          </a:xfrm>
          <a:prstGeom prst="rect">
            <a:avLst/>
          </a:prstGeom>
        </p:spPr>
      </p:pic>
      <p:sp>
        <p:nvSpPr>
          <p:cNvPr id="18" name="Text 13"/>
          <p:cNvSpPr txBox="1"/>
          <p:nvPr/>
        </p:nvSpPr>
        <p:spPr>
          <a:xfrm>
            <a:off x="1508760" y="3154680"/>
            <a:ext cx="28346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Infrastructure</a:t>
            </a:r>
            <a:endParaRPr lang="en-US" sz="1800" dirty="0"/>
          </a:p>
        </p:txBody>
      </p:sp>
      <p:sp>
        <p:nvSpPr>
          <p:cNvPr id="19" name="Text 14"/>
          <p:cNvSpPr txBox="1"/>
          <p:nvPr/>
        </p:nvSpPr>
        <p:spPr>
          <a:xfrm>
            <a:off x="1508760" y="3520440"/>
            <a:ext cx="2834640" cy="685800"/>
          </a:xfrm>
          <a:prstGeom prst="rect">
            <a:avLst/>
          </a:prstGeom>
          <a:noFill/>
          <a:ln/>
        </p:spPr>
        <p:txBody>
          <a:bodyPr wrap="square" lIns="0" tIns="0" rIns="0" bIns="0" rtlCol="0" anchor="t"/>
          <a:lstStyle/>
          <a:p>
            <a:pPr indent="0" marL="0">
              <a:buNone/>
            </a:pPr>
            <a:r>
              <a:rPr lang="en-US" sz="1400" dirty="0">
                <a:solidFill>
                  <a:schemeClr val="tx2"/>
                </a:solidFill>
              </a:rPr>
              <a:t>Stack Docker-Compose : Mosquitto, PostgreSQL, ingestor, API, proxy Caddy, NTP.</a:t>
            </a:r>
            <a:endParaRPr lang="en-US" sz="1400" dirty="0"/>
          </a:p>
        </p:txBody>
      </p:sp>
      <p:sp>
        <p:nvSpPr>
          <p:cNvPr id="20" name="Text 15"/>
          <p:cNvSpPr txBox="1"/>
          <p:nvPr/>
        </p:nvSpPr>
        <p:spPr>
          <a:xfrm>
            <a:off x="1508760" y="4206240"/>
            <a:ext cx="2834640" cy="22860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docker-compose.yml</a:t>
            </a:r>
            <a:endParaRPr lang="en-US" sz="1100" dirty="0"/>
          </a:p>
        </p:txBody>
      </p:sp>
      <p:sp>
        <p:nvSpPr>
          <p:cNvPr id="21" name="Carte pilier 4"/>
          <p:cNvSpPr/>
          <p:nvPr/>
        </p:nvSpPr>
        <p:spPr>
          <a:xfrm>
            <a:off x="4663440" y="297180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Icône Cybersécurité cercle"/>
          <p:cNvSpPr/>
          <p:nvPr/>
        </p:nvSpPr>
        <p:spPr>
          <a:xfrm>
            <a:off x="4892040" y="3200400"/>
            <a:ext cx="640080" cy="640080"/>
          </a:xfrm>
          <a:prstGeom prst="ellipse">
            <a:avLst/>
          </a:prstGeom>
          <a:solidFill>
            <a:srgbClr val="F59E0B"/>
          </a:solidFill>
          <a:ln w="12700">
            <a:solidFill>
              <a:srgbClr val="F59E0B"/>
            </a:solidFill>
            <a:prstDash val="solid"/>
          </a:ln>
        </p:spPr>
      </p:sp>
      <p:pic>
        <p:nvPicPr>
          <p:cNvPr id="23" name="Icône Cybersécurité" descr="Icône Cybersécurité">    </p:cNvPr>
          <p:cNvPicPr>
            <a:picLocks noChangeAspect="1"/>
          </p:cNvPicPr>
          <p:nvPr/>
        </p:nvPicPr>
        <p:blipFill>
          <a:blip r:embed="rId4"/>
          <a:stretch>
            <a:fillRect/>
          </a:stretch>
        </p:blipFill>
        <p:spPr>
          <a:xfrm>
            <a:off x="5052060" y="3360420"/>
            <a:ext cx="320040" cy="320040"/>
          </a:xfrm>
          <a:prstGeom prst="rect">
            <a:avLst/>
          </a:prstGeom>
        </p:spPr>
      </p:pic>
      <p:sp>
        <p:nvSpPr>
          <p:cNvPr id="24" name="Text 18"/>
          <p:cNvSpPr txBox="1"/>
          <p:nvPr/>
        </p:nvSpPr>
        <p:spPr>
          <a:xfrm>
            <a:off x="5715000" y="3154680"/>
            <a:ext cx="28346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Cybersécurité</a:t>
            </a:r>
            <a:endParaRPr lang="en-US" sz="1800" dirty="0"/>
          </a:p>
        </p:txBody>
      </p:sp>
      <p:sp>
        <p:nvSpPr>
          <p:cNvPr id="25" name="Text 19"/>
          <p:cNvSpPr txBox="1"/>
          <p:nvPr/>
        </p:nvSpPr>
        <p:spPr>
          <a:xfrm>
            <a:off x="5715000" y="3520440"/>
            <a:ext cx="2834640" cy="685800"/>
          </a:xfrm>
          <a:prstGeom prst="rect">
            <a:avLst/>
          </a:prstGeom>
          <a:noFill/>
          <a:ln/>
        </p:spPr>
        <p:txBody>
          <a:bodyPr wrap="square" lIns="0" tIns="0" rIns="0" bIns="0" rtlCol="0" anchor="t"/>
          <a:lstStyle/>
          <a:p>
            <a:pPr indent="0" marL="0">
              <a:buNone/>
            </a:pPr>
            <a:r>
              <a:rPr lang="en-US" sz="1400" dirty="0">
                <a:solidFill>
                  <a:schemeClr val="tx2"/>
                </a:solidFill>
              </a:rPr>
              <a:t>MQTTS TLS 1.2+, ACL, comptes + 2FA, durcissement hôte, audit scripté.</a:t>
            </a:r>
            <a:endParaRPr lang="en-US" sz="1400" dirty="0"/>
          </a:p>
        </p:txBody>
      </p:sp>
      <p:sp>
        <p:nvSpPr>
          <p:cNvPr id="26" name="Text 20"/>
          <p:cNvSpPr txBox="1"/>
          <p:nvPr/>
        </p:nvSpPr>
        <p:spPr>
          <a:xfrm>
            <a:off x="5715000" y="4206240"/>
            <a:ext cx="2834640" cy="22860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docs/SECURITE.md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 de l'ESP32 au tableau de bord</a:t>
            </a:r>
            <a:endParaRPr lang="en-US" sz="3000" dirty="0"/>
          </a:p>
        </p:txBody>
      </p:sp>
      <p:sp>
        <p:nvSpPr>
          <p:cNvPr id="3" name="Conteneur serveur"/>
          <p:cNvSpPr/>
          <p:nvPr/>
        </p:nvSpPr>
        <p:spPr>
          <a:xfrm>
            <a:off x="2743200" y="1188720"/>
            <a:ext cx="5943600" cy="2697480"/>
          </a:xfrm>
          <a:prstGeom prst="roundRect">
            <a:avLst>
              <a:gd name="adj" fmla="val 3390"/>
            </a:avLst>
          </a:prstGeom>
          <a:solidFill>
            <a:schemeClr val="bg2"/>
          </a:solidFill>
          <a:ln w="12700">
            <a:solidFill>
              <a:schemeClr val="accent6"/>
            </a:solidFill>
            <a:prstDash val="dash"/>
          </a:ln>
        </p:spPr>
      </p:sp>
      <p:sp>
        <p:nvSpPr>
          <p:cNvPr id="4" name="Text 2"/>
          <p:cNvSpPr txBox="1"/>
          <p:nvPr/>
        </p:nvSpPr>
        <p:spPr>
          <a:xfrm>
            <a:off x="2926080" y="1243584"/>
            <a:ext cx="5669280" cy="228600"/>
          </a:xfrm>
          <a:prstGeom prst="rect">
            <a:avLst/>
          </a:prstGeom>
          <a:noFill/>
          <a:ln/>
        </p:spPr>
        <p:txBody>
          <a:bodyPr wrap="square" lIns="0" tIns="0" rIns="0" bIns="0" rtlCol="0" anchor="t"/>
          <a:lstStyle/>
          <a:p>
            <a:pPr indent="0" marL="0">
              <a:buNone/>
            </a:pPr>
            <a:r>
              <a:rPr lang="en-US" sz="1000" b="1" dirty="0">
                <a:solidFill>
                  <a:schemeClr val="accent5"/>
                </a:solidFill>
              </a:rPr>
              <a:t>PC SERVEUR LOCAL · Raspberry Pi · Docker (réseau backend interne)</a:t>
            </a:r>
            <a:endParaRPr lang="en-US" sz="1000" dirty="0"/>
          </a:p>
        </p:txBody>
      </p:sp>
      <p:sp>
        <p:nvSpPr>
          <p:cNvPr id="5" name="Bloc ESP32"/>
          <p:cNvSpPr/>
          <p:nvPr/>
        </p:nvSpPr>
        <p:spPr>
          <a:xfrm>
            <a:off x="457200" y="1737360"/>
            <a:ext cx="1737360" cy="914400"/>
          </a:xfrm>
          <a:prstGeom prst="roundRect">
            <a:avLst>
              <a:gd name="adj" fmla="val 6000"/>
            </a:avLst>
          </a:prstGeom>
          <a:solidFill>
            <a:srgbClr val="D90429"/>
          </a:solidFill>
          <a:ln w="12700">
            <a:solidFill>
              <a:srgbClr val="D90429"/>
            </a:solidFill>
            <a:prstDash val="solid"/>
          </a:ln>
        </p:spPr>
      </p:sp>
      <p:sp>
        <p:nvSpPr>
          <p:cNvPr id="6" name="Text 4"/>
          <p:cNvSpPr txBox="1"/>
          <p:nvPr/>
        </p:nvSpPr>
        <p:spPr>
          <a:xfrm>
            <a:off x="457200" y="1737360"/>
            <a:ext cx="1737360" cy="914400"/>
          </a:xfrm>
          <a:prstGeom prst="rect">
            <a:avLst/>
          </a:prstGeom>
          <a:noFill/>
          <a:ln/>
        </p:spPr>
        <p:txBody>
          <a:bodyPr wrap="square" lIns="0" tIns="0" rIns="0" bIns="0" rtlCol="0" anchor="ctr"/>
          <a:lstStyle/>
          <a:p>
            <a:pPr algn="ctr" indent="0" marL="0">
              <a:buNone/>
            </a:pPr>
            <a:r>
              <a:rPr lang="en-US" sz="1400" b="1" dirty="0">
                <a:solidFill>
                  <a:schemeClr val="bg1"/>
                </a:solidFill>
              </a:rPr>
              <a:t>ESP32</a:t>
            </a:r>
            <a:endParaRPr lang="en-US" sz="1400" dirty="0"/>
          </a:p>
          <a:p>
            <a:pPr algn="ctr" indent="0" marL="0">
              <a:buNone/>
            </a:pPr>
            <a:r>
              <a:rPr lang="en-US" sz="1100" dirty="0">
                <a:solidFill>
                  <a:schemeClr val="bg1"/>
                </a:solidFill>
              </a:rPr>
              <a:t>SENTINEL-X-CORE</a:t>
            </a:r>
            <a:endParaRPr lang="en-US" sz="1400" dirty="0"/>
          </a:p>
        </p:txBody>
      </p:sp>
      <p:sp>
        <p:nvSpPr>
          <p:cNvPr id="7" name="Bloc Mosquitto"/>
          <p:cNvSpPr/>
          <p:nvPr/>
        </p:nvSpPr>
        <p:spPr>
          <a:xfrm>
            <a:off x="2926080" y="1600200"/>
            <a:ext cx="1554480" cy="822960"/>
          </a:xfrm>
          <a:prstGeom prst="roundRect">
            <a:avLst>
              <a:gd name="adj" fmla="val 6667"/>
            </a:avLst>
          </a:prstGeom>
          <a:solidFill>
            <a:srgbClr val="1B2A41"/>
          </a:solidFill>
          <a:ln w="12700">
            <a:solidFill>
              <a:srgbClr val="1B2A41"/>
            </a:solidFill>
            <a:prstDash val="solid"/>
          </a:ln>
        </p:spPr>
      </p:sp>
      <p:sp>
        <p:nvSpPr>
          <p:cNvPr id="8" name="Text 6"/>
          <p:cNvSpPr txBox="1"/>
          <p:nvPr/>
        </p:nvSpPr>
        <p:spPr>
          <a:xfrm>
            <a:off x="2926080" y="160020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rPr>
              <a:t>Mosquitto</a:t>
            </a:r>
            <a:endParaRPr lang="en-US" sz="1400" dirty="0"/>
          </a:p>
          <a:p>
            <a:pPr algn="ctr" indent="0" marL="0">
              <a:buNone/>
            </a:pPr>
            <a:r>
              <a:rPr lang="en-US" sz="1100" dirty="0">
                <a:solidFill>
                  <a:schemeClr val="bg1"/>
                </a:solidFill>
              </a:rPr>
              <a:t>MQTTS :8883</a:t>
            </a:r>
            <a:endParaRPr lang="en-US" sz="1400" dirty="0"/>
          </a:p>
        </p:txBody>
      </p:sp>
      <p:sp>
        <p:nvSpPr>
          <p:cNvPr id="9" name="Bloc Ingestor"/>
          <p:cNvSpPr/>
          <p:nvPr/>
        </p:nvSpPr>
        <p:spPr>
          <a:xfrm>
            <a:off x="4846320" y="1600200"/>
            <a:ext cx="1554480" cy="822960"/>
          </a:xfrm>
          <a:prstGeom prst="roundRect">
            <a:avLst>
              <a:gd name="adj" fmla="val 6667"/>
            </a:avLst>
          </a:prstGeom>
          <a:solidFill>
            <a:srgbClr val="1B2A41"/>
          </a:solidFill>
          <a:ln w="12700">
            <a:solidFill>
              <a:srgbClr val="1B2A41"/>
            </a:solidFill>
            <a:prstDash val="solid"/>
          </a:ln>
        </p:spPr>
      </p:sp>
      <p:sp>
        <p:nvSpPr>
          <p:cNvPr id="10" name="Text 8"/>
          <p:cNvSpPr txBox="1"/>
          <p:nvPr/>
        </p:nvSpPr>
        <p:spPr>
          <a:xfrm>
            <a:off x="4846320" y="160020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rPr>
              <a:t>Ingestor</a:t>
            </a:r>
            <a:endParaRPr lang="en-US" sz="1400" dirty="0"/>
          </a:p>
          <a:p>
            <a:pPr algn="ctr" indent="0" marL="0">
              <a:buNone/>
            </a:pPr>
            <a:r>
              <a:rPr lang="en-US" sz="1100" dirty="0">
                <a:solidFill>
                  <a:schemeClr val="bg1"/>
                </a:solidFill>
              </a:rPr>
              <a:t>validation + lots</a:t>
            </a:r>
            <a:endParaRPr lang="en-US" sz="1400" dirty="0"/>
          </a:p>
        </p:txBody>
      </p:sp>
      <p:sp>
        <p:nvSpPr>
          <p:cNvPr id="11" name="Bloc PostgreSQL 17"/>
          <p:cNvSpPr/>
          <p:nvPr/>
        </p:nvSpPr>
        <p:spPr>
          <a:xfrm>
            <a:off x="6766560" y="1600200"/>
            <a:ext cx="1737360" cy="822960"/>
          </a:xfrm>
          <a:prstGeom prst="roundRect">
            <a:avLst>
              <a:gd name="adj" fmla="val 6667"/>
            </a:avLst>
          </a:prstGeom>
          <a:solidFill>
            <a:srgbClr val="1B2A41"/>
          </a:solidFill>
          <a:ln w="12700">
            <a:solidFill>
              <a:srgbClr val="1B2A41"/>
            </a:solidFill>
            <a:prstDash val="solid"/>
          </a:ln>
        </p:spPr>
      </p:sp>
      <p:sp>
        <p:nvSpPr>
          <p:cNvPr id="12" name="Text 10"/>
          <p:cNvSpPr txBox="1"/>
          <p:nvPr/>
        </p:nvSpPr>
        <p:spPr>
          <a:xfrm>
            <a:off x="6766560" y="1600200"/>
            <a:ext cx="1737360" cy="822960"/>
          </a:xfrm>
          <a:prstGeom prst="rect">
            <a:avLst/>
          </a:prstGeom>
          <a:noFill/>
          <a:ln/>
        </p:spPr>
        <p:txBody>
          <a:bodyPr wrap="square" lIns="0" tIns="0" rIns="0" bIns="0" rtlCol="0" anchor="ctr"/>
          <a:lstStyle/>
          <a:p>
            <a:pPr algn="ctr" indent="0" marL="0">
              <a:buNone/>
            </a:pPr>
            <a:r>
              <a:rPr lang="en-US" sz="1400" b="1" dirty="0">
                <a:solidFill>
                  <a:schemeClr val="bg1"/>
                </a:solidFill>
              </a:rPr>
              <a:t>PostgreSQL 17</a:t>
            </a:r>
            <a:endParaRPr lang="en-US" sz="1400" dirty="0"/>
          </a:p>
          <a:p>
            <a:pPr algn="ctr" indent="0" marL="0">
              <a:buNone/>
            </a:pPr>
            <a:r>
              <a:rPr lang="en-US" sz="1100" dirty="0">
                <a:solidFill>
                  <a:schemeClr val="bg1"/>
                </a:solidFill>
              </a:rPr>
              <a:t>rôles app / lecture</a:t>
            </a:r>
            <a:endParaRPr lang="en-US" sz="1400" dirty="0"/>
          </a:p>
        </p:txBody>
      </p:sp>
      <p:sp>
        <p:nvSpPr>
          <p:cNvPr id="13" name="Bloc API FastAPI"/>
          <p:cNvSpPr/>
          <p:nvPr/>
        </p:nvSpPr>
        <p:spPr>
          <a:xfrm>
            <a:off x="2926080" y="2834640"/>
            <a:ext cx="1554480" cy="822960"/>
          </a:xfrm>
          <a:prstGeom prst="roundRect">
            <a:avLst>
              <a:gd name="adj" fmla="val 6667"/>
            </a:avLst>
          </a:prstGeom>
          <a:solidFill>
            <a:srgbClr val="D90429"/>
          </a:solidFill>
          <a:ln w="12700">
            <a:solidFill>
              <a:srgbClr val="D90429"/>
            </a:solidFill>
            <a:prstDash val="solid"/>
          </a:ln>
        </p:spPr>
      </p:sp>
      <p:sp>
        <p:nvSpPr>
          <p:cNvPr id="14" name="Text 12"/>
          <p:cNvSpPr txBox="1"/>
          <p:nvPr/>
        </p:nvSpPr>
        <p:spPr>
          <a:xfrm>
            <a:off x="2926080" y="283464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rPr>
              <a:t>API FastAPI</a:t>
            </a:r>
            <a:endParaRPr lang="en-US" sz="1400" dirty="0"/>
          </a:p>
          <a:p>
            <a:pPr algn="ctr" indent="0" marL="0">
              <a:buNone/>
            </a:pPr>
            <a:r>
              <a:rPr lang="en-US" sz="1100" dirty="0">
                <a:solidFill>
                  <a:schemeClr val="bg1"/>
                </a:solidFill>
              </a:rPr>
              <a:t>REST /api/v1</a:t>
            </a:r>
            <a:endParaRPr lang="en-US" sz="1400" dirty="0"/>
          </a:p>
        </p:txBody>
      </p:sp>
      <p:sp>
        <p:nvSpPr>
          <p:cNvPr id="15" name="Bloc Caddy"/>
          <p:cNvSpPr/>
          <p:nvPr/>
        </p:nvSpPr>
        <p:spPr>
          <a:xfrm>
            <a:off x="4846320" y="2834640"/>
            <a:ext cx="1554480" cy="822960"/>
          </a:xfrm>
          <a:prstGeom prst="roundRect">
            <a:avLst>
              <a:gd name="adj" fmla="val 6667"/>
            </a:avLst>
          </a:prstGeom>
          <a:solidFill>
            <a:srgbClr val="1B2A41"/>
          </a:solidFill>
          <a:ln w="12700">
            <a:solidFill>
              <a:srgbClr val="1B2A41"/>
            </a:solidFill>
            <a:prstDash val="solid"/>
          </a:ln>
        </p:spPr>
      </p:sp>
      <p:sp>
        <p:nvSpPr>
          <p:cNvPr id="16" name="Text 14"/>
          <p:cNvSpPr txBox="1"/>
          <p:nvPr/>
        </p:nvSpPr>
        <p:spPr>
          <a:xfrm>
            <a:off x="4846320" y="283464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rPr>
              <a:t>Caddy</a:t>
            </a:r>
            <a:endParaRPr lang="en-US" sz="1400" dirty="0"/>
          </a:p>
          <a:p>
            <a:pPr algn="ctr" indent="0" marL="0">
              <a:buNone/>
            </a:pPr>
            <a:r>
              <a:rPr lang="en-US" sz="1100" dirty="0">
                <a:solidFill>
                  <a:schemeClr val="bg1"/>
                </a:solidFill>
              </a:rPr>
              <a:t>HTTPS :443</a:t>
            </a:r>
            <a:endParaRPr lang="en-US" sz="1400" dirty="0"/>
          </a:p>
        </p:txBody>
      </p:sp>
      <p:sp>
        <p:nvSpPr>
          <p:cNvPr id="17" name="Bloc Chrony"/>
          <p:cNvSpPr/>
          <p:nvPr/>
        </p:nvSpPr>
        <p:spPr>
          <a:xfrm>
            <a:off x="6766560" y="2834640"/>
            <a:ext cx="1737360" cy="822960"/>
          </a:xfrm>
          <a:prstGeom prst="roundRect">
            <a:avLst>
              <a:gd name="adj" fmla="val 6667"/>
            </a:avLst>
          </a:prstGeom>
          <a:solidFill>
            <a:srgbClr val="64748B"/>
          </a:solidFill>
          <a:ln w="12700">
            <a:solidFill>
              <a:srgbClr val="64748B"/>
            </a:solidFill>
            <a:prstDash val="solid"/>
          </a:ln>
        </p:spPr>
      </p:sp>
      <p:sp>
        <p:nvSpPr>
          <p:cNvPr id="18" name="Text 16"/>
          <p:cNvSpPr txBox="1"/>
          <p:nvPr/>
        </p:nvSpPr>
        <p:spPr>
          <a:xfrm>
            <a:off x="6766560" y="2834640"/>
            <a:ext cx="1737360" cy="822960"/>
          </a:xfrm>
          <a:prstGeom prst="rect">
            <a:avLst/>
          </a:prstGeom>
          <a:noFill/>
          <a:ln/>
        </p:spPr>
        <p:txBody>
          <a:bodyPr wrap="square" lIns="0" tIns="0" rIns="0" bIns="0" rtlCol="0" anchor="ctr"/>
          <a:lstStyle/>
          <a:p>
            <a:pPr algn="ctr" indent="0" marL="0">
              <a:buNone/>
            </a:pPr>
            <a:r>
              <a:rPr lang="en-US" sz="1400" b="1" dirty="0">
                <a:solidFill>
                  <a:schemeClr val="bg1"/>
                </a:solidFill>
              </a:rPr>
              <a:t>Chrony</a:t>
            </a:r>
            <a:endParaRPr lang="en-US" sz="1400" dirty="0"/>
          </a:p>
          <a:p>
            <a:pPr algn="ctr" indent="0" marL="0">
              <a:buNone/>
            </a:pPr>
            <a:r>
              <a:rPr lang="en-US" sz="1100" dirty="0">
                <a:solidFill>
                  <a:schemeClr val="bg1"/>
                </a:solidFill>
              </a:rPr>
              <a:t>NTP : heure TLS</a:t>
            </a:r>
            <a:endParaRPr lang="en-US" sz="1400" dirty="0"/>
          </a:p>
        </p:txBody>
      </p:sp>
      <p:sp>
        <p:nvSpPr>
          <p:cNvPr id="19" name="Bloc Vision IA : YOLO + visages"/>
          <p:cNvSpPr/>
          <p:nvPr/>
        </p:nvSpPr>
        <p:spPr>
          <a:xfrm>
            <a:off x="2926080" y="4114800"/>
            <a:ext cx="2468880" cy="548640"/>
          </a:xfrm>
          <a:prstGeom prst="roundRect">
            <a:avLst>
              <a:gd name="adj" fmla="val 10000"/>
            </a:avLst>
          </a:prstGeom>
          <a:solidFill>
            <a:srgbClr val="38BDF8"/>
          </a:solidFill>
          <a:ln w="12700">
            <a:solidFill>
              <a:srgbClr val="38BDF8"/>
            </a:solidFill>
            <a:prstDash val="solid"/>
          </a:ln>
        </p:spPr>
      </p:sp>
      <p:sp>
        <p:nvSpPr>
          <p:cNvPr id="20" name="Text 18"/>
          <p:cNvSpPr txBox="1"/>
          <p:nvPr/>
        </p:nvSpPr>
        <p:spPr>
          <a:xfrm>
            <a:off x="2926080" y="4114800"/>
            <a:ext cx="2468880" cy="548640"/>
          </a:xfrm>
          <a:prstGeom prst="rect">
            <a:avLst/>
          </a:prstGeom>
          <a:noFill/>
          <a:ln/>
        </p:spPr>
        <p:txBody>
          <a:bodyPr wrap="square" lIns="0" tIns="0" rIns="0" bIns="0" rtlCol="0" anchor="ctr"/>
          <a:lstStyle/>
          <a:p>
            <a:pPr algn="ctr" indent="0" marL="0">
              <a:buNone/>
            </a:pPr>
            <a:r>
              <a:rPr lang="en-US" sz="1400" b="1" dirty="0">
                <a:solidFill>
                  <a:schemeClr val="tx1"/>
                </a:solidFill>
              </a:rPr>
              <a:t>Vision IA : YOLO + visages</a:t>
            </a:r>
            <a:endParaRPr lang="en-US" sz="1400" dirty="0"/>
          </a:p>
        </p:txBody>
      </p:sp>
      <p:sp>
        <p:nvSpPr>
          <p:cNvPr id="21" name="Bloc Navigateur : dashboard React"/>
          <p:cNvSpPr/>
          <p:nvPr/>
        </p:nvSpPr>
        <p:spPr>
          <a:xfrm>
            <a:off x="5760720" y="4114800"/>
            <a:ext cx="2743200" cy="548640"/>
          </a:xfrm>
          <a:prstGeom prst="roundRect">
            <a:avLst>
              <a:gd name="adj" fmla="val 10000"/>
            </a:avLst>
          </a:prstGeom>
          <a:solidFill>
            <a:srgbClr val="16A34A"/>
          </a:solidFill>
          <a:ln w="12700">
            <a:solidFill>
              <a:srgbClr val="16A34A"/>
            </a:solidFill>
            <a:prstDash val="solid"/>
          </a:ln>
        </p:spPr>
      </p:sp>
      <p:sp>
        <p:nvSpPr>
          <p:cNvPr id="22" name="Text 20"/>
          <p:cNvSpPr txBox="1"/>
          <p:nvPr/>
        </p:nvSpPr>
        <p:spPr>
          <a:xfrm>
            <a:off x="5760720" y="4114800"/>
            <a:ext cx="2743200" cy="548640"/>
          </a:xfrm>
          <a:prstGeom prst="rect">
            <a:avLst/>
          </a:prstGeom>
          <a:noFill/>
          <a:ln/>
        </p:spPr>
        <p:txBody>
          <a:bodyPr wrap="square" lIns="0" tIns="0" rIns="0" bIns="0" rtlCol="0" anchor="ctr"/>
          <a:lstStyle/>
          <a:p>
            <a:pPr algn="ctr" indent="0" marL="0">
              <a:buNone/>
            </a:pPr>
            <a:r>
              <a:rPr lang="en-US" sz="1400" b="1" dirty="0">
                <a:solidFill>
                  <a:schemeClr val="bg1"/>
                </a:solidFill>
              </a:rPr>
              <a:t>Navigateur : dashboard React</a:t>
            </a:r>
            <a:endParaRPr lang="en-US" sz="1400" dirty="0"/>
          </a:p>
        </p:txBody>
      </p:sp>
      <p:sp>
        <p:nvSpPr>
          <p:cNvPr id="23" name="Flèche MQTTS"/>
          <p:cNvSpPr/>
          <p:nvPr/>
        </p:nvSpPr>
        <p:spPr>
          <a:xfrm flipV="1">
            <a:off x="2194560" y="2011680"/>
            <a:ext cx="731520" cy="137160"/>
          </a:xfrm>
          <a:prstGeom prst="line">
            <a:avLst/>
          </a:prstGeom>
          <a:noFill/>
          <a:ln w="22225">
            <a:solidFill>
              <a:srgbClr val="64748B"/>
            </a:solidFill>
            <a:prstDash val="solid"/>
            <a:tailEnd type="triangle"/>
          </a:ln>
        </p:spPr>
      </p:sp>
      <p:sp>
        <p:nvSpPr>
          <p:cNvPr id="24" name="Text 22"/>
          <p:cNvSpPr txBox="1"/>
          <p:nvPr/>
        </p:nvSpPr>
        <p:spPr>
          <a:xfrm>
            <a:off x="2148840" y="2240280"/>
            <a:ext cx="731520" cy="201168"/>
          </a:xfrm>
          <a:prstGeom prst="rect">
            <a:avLst/>
          </a:prstGeom>
          <a:noFill/>
          <a:ln/>
        </p:spPr>
        <p:txBody>
          <a:bodyPr wrap="square" lIns="0" tIns="0" rIns="0" bIns="0" rtlCol="0" anchor="t"/>
          <a:lstStyle/>
          <a:p>
            <a:pPr algn="ctr" indent="0" marL="0">
              <a:buNone/>
            </a:pPr>
            <a:r>
              <a:rPr lang="en-US" sz="1000" b="1" dirty="0">
                <a:solidFill>
                  <a:schemeClr val="accent1"/>
                </a:solidFill>
              </a:rPr>
              <a:t>MQTTS</a:t>
            </a:r>
            <a:endParaRPr lang="en-US" sz="1000" dirty="0"/>
          </a:p>
        </p:txBody>
      </p:sp>
      <p:sp>
        <p:nvSpPr>
          <p:cNvPr id="25" name="Flèche "/>
          <p:cNvSpPr/>
          <p:nvPr/>
        </p:nvSpPr>
        <p:spPr>
          <a:xfrm>
            <a:off x="4480560" y="2011680"/>
            <a:ext cx="365760" cy="0"/>
          </a:xfrm>
          <a:prstGeom prst="line">
            <a:avLst/>
          </a:prstGeom>
          <a:noFill/>
          <a:ln w="22225">
            <a:solidFill>
              <a:srgbClr val="64748B"/>
            </a:solidFill>
            <a:prstDash val="solid"/>
            <a:tailEnd type="triangle"/>
          </a:ln>
        </p:spPr>
      </p:sp>
      <p:sp>
        <p:nvSpPr>
          <p:cNvPr id="26" name="Flèche "/>
          <p:cNvSpPr/>
          <p:nvPr/>
        </p:nvSpPr>
        <p:spPr>
          <a:xfrm>
            <a:off x="6400800" y="2011680"/>
            <a:ext cx="365760" cy="0"/>
          </a:xfrm>
          <a:prstGeom prst="line">
            <a:avLst/>
          </a:prstGeom>
          <a:noFill/>
          <a:ln w="22225">
            <a:solidFill>
              <a:srgbClr val="64748B"/>
            </a:solidFill>
            <a:prstDash val="solid"/>
            <a:tailEnd type="triangle"/>
          </a:ln>
        </p:spPr>
      </p:sp>
      <p:sp>
        <p:nvSpPr>
          <p:cNvPr id="27" name="Flèche "/>
          <p:cNvSpPr/>
          <p:nvPr/>
        </p:nvSpPr>
        <p:spPr>
          <a:xfrm>
            <a:off x="3703320" y="2423160"/>
            <a:ext cx="0" cy="411480"/>
          </a:xfrm>
          <a:prstGeom prst="line">
            <a:avLst/>
          </a:prstGeom>
          <a:noFill/>
          <a:ln w="22225">
            <a:solidFill>
              <a:srgbClr val="64748B"/>
            </a:solidFill>
            <a:prstDash val="solid"/>
            <a:tailEnd type="triangle"/>
          </a:ln>
        </p:spPr>
      </p:sp>
      <p:sp>
        <p:nvSpPr>
          <p:cNvPr id="28" name="Flèche "/>
          <p:cNvSpPr/>
          <p:nvPr/>
        </p:nvSpPr>
        <p:spPr>
          <a:xfrm flipH="1">
            <a:off x="4480560" y="3246120"/>
            <a:ext cx="365760" cy="0"/>
          </a:xfrm>
          <a:prstGeom prst="line">
            <a:avLst/>
          </a:prstGeom>
          <a:noFill/>
          <a:ln w="22225">
            <a:solidFill>
              <a:srgbClr val="64748B"/>
            </a:solidFill>
            <a:prstDash val="solid"/>
            <a:tailEnd type="triangle"/>
          </a:ln>
        </p:spPr>
      </p:sp>
      <p:sp>
        <p:nvSpPr>
          <p:cNvPr id="29" name="Flèche "/>
          <p:cNvSpPr/>
          <p:nvPr/>
        </p:nvSpPr>
        <p:spPr>
          <a:xfrm flipV="1">
            <a:off x="4160520" y="3657600"/>
            <a:ext cx="0" cy="457200"/>
          </a:xfrm>
          <a:prstGeom prst="line">
            <a:avLst/>
          </a:prstGeom>
          <a:noFill/>
          <a:ln w="22225">
            <a:solidFill>
              <a:srgbClr val="64748B"/>
            </a:solidFill>
            <a:prstDash val="solid"/>
            <a:tailEnd type="triangle"/>
          </a:ln>
        </p:spPr>
      </p:sp>
      <p:sp>
        <p:nvSpPr>
          <p:cNvPr id="30" name="Flèche "/>
          <p:cNvSpPr/>
          <p:nvPr/>
        </p:nvSpPr>
        <p:spPr>
          <a:xfrm flipH="1" flipV="1">
            <a:off x="6035040" y="3657600"/>
            <a:ext cx="1097280" cy="457200"/>
          </a:xfrm>
          <a:prstGeom prst="line">
            <a:avLst/>
          </a:prstGeom>
          <a:noFill/>
          <a:ln w="22225">
            <a:solidFill>
              <a:srgbClr val="64748B"/>
            </a:solidFill>
            <a:prstDash val="solid"/>
            <a:tailEnd type="triangle"/>
          </a:ln>
        </p:spPr>
      </p:sp>
      <p:sp>
        <p:nvSpPr>
          <p:cNvPr id="31" name="Text 29"/>
          <p:cNvSpPr txBox="1"/>
          <p:nvPr/>
        </p:nvSpPr>
        <p:spPr>
          <a:xfrm>
            <a:off x="457200" y="2880360"/>
            <a:ext cx="2103120" cy="548640"/>
          </a:xfrm>
          <a:prstGeom prst="rect">
            <a:avLst/>
          </a:prstGeom>
          <a:noFill/>
          <a:ln/>
        </p:spPr>
        <p:txBody>
          <a:bodyPr wrap="square" lIns="0" tIns="0" rIns="0" bIns="0" rtlCol="0" anchor="t"/>
          <a:lstStyle/>
          <a:p>
            <a:pPr indent="0" marL="0">
              <a:buNone/>
            </a:pPr>
            <a:r>
              <a:rPr lang="en-US" sz="1100" dirty="0">
                <a:solidFill>
                  <a:schemeClr val="accent5"/>
                </a:solidFill>
              </a:rPr>
              <a:t>ESP32 ↔ API : commandes, badges RFID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Edge Node : le boîtier physique</a:t>
            </a:r>
            <a:endParaRPr lang="en-US" sz="3000" dirty="0"/>
          </a:p>
        </p:txBody>
      </p:sp>
      <p:sp>
        <p:nvSpPr>
          <p:cNvPr id="3" name="Text 1"/>
          <p:cNvSpPr txBox="1"/>
          <p:nvPr/>
        </p:nvSpPr>
        <p:spPr>
          <a:xfrm>
            <a:off x="457200" y="1188720"/>
            <a:ext cx="2194560" cy="5943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 s</a:t>
            </a:r>
            <a:endParaRPr lang="en-US" sz="4000" dirty="0"/>
          </a:p>
        </p:txBody>
      </p:sp>
      <p:sp>
        <p:nvSpPr>
          <p:cNvPr id="4" name="Text 2"/>
          <p:cNvSpPr txBox="1"/>
          <p:nvPr/>
        </p:nvSpPr>
        <p:spPr>
          <a:xfrm>
            <a:off x="457200" y="1810512"/>
            <a:ext cx="2194560" cy="274320"/>
          </a:xfrm>
          <a:prstGeom prst="rect">
            <a:avLst/>
          </a:prstGeom>
          <a:noFill/>
          <a:ln/>
        </p:spPr>
        <p:txBody>
          <a:bodyPr wrap="square" lIns="0" tIns="0" rIns="0" bIns="0" rtlCol="0" anchor="t"/>
          <a:lstStyle/>
          <a:p>
            <a:pPr indent="0" marL="0">
              <a:buNone/>
            </a:pPr>
            <a:r>
              <a:rPr lang="en-US" sz="1400" dirty="0">
                <a:solidFill>
                  <a:schemeClr val="tx2"/>
                </a:solidFill>
              </a:rPr>
              <a:t>cadence de télémétrie</a:t>
            </a:r>
            <a:endParaRPr lang="en-US" sz="1400" dirty="0"/>
          </a:p>
        </p:txBody>
      </p:sp>
      <p:sp>
        <p:nvSpPr>
          <p:cNvPr id="5" name="Text 3"/>
          <p:cNvSpPr txBox="1"/>
          <p:nvPr/>
        </p:nvSpPr>
        <p:spPr>
          <a:xfrm>
            <a:off x="457200" y="2286000"/>
            <a:ext cx="2194560" cy="5943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12 bits</a:t>
            </a:r>
            <a:endParaRPr lang="en-US" sz="4000" dirty="0"/>
          </a:p>
        </p:txBody>
      </p:sp>
      <p:sp>
        <p:nvSpPr>
          <p:cNvPr id="6" name="Text 4"/>
          <p:cNvSpPr txBox="1"/>
          <p:nvPr/>
        </p:nvSpPr>
        <p:spPr>
          <a:xfrm>
            <a:off x="457200" y="2907792"/>
            <a:ext cx="2194560" cy="274320"/>
          </a:xfrm>
          <a:prstGeom prst="rect">
            <a:avLst/>
          </a:prstGeom>
          <a:noFill/>
          <a:ln/>
        </p:spPr>
        <p:txBody>
          <a:bodyPr wrap="square" lIns="0" tIns="0" rIns="0" bIns="0" rtlCol="0" anchor="t"/>
          <a:lstStyle/>
          <a:p>
            <a:pPr indent="0" marL="0">
              <a:buNone/>
            </a:pPr>
            <a:r>
              <a:rPr lang="en-US" sz="1400" dirty="0">
                <a:solidFill>
                  <a:schemeClr val="tx2"/>
                </a:solidFill>
              </a:rPr>
              <a:t>gaz MQ : ADC 0-4095</a:t>
            </a:r>
            <a:endParaRPr lang="en-US" sz="1400" dirty="0"/>
          </a:p>
        </p:txBody>
      </p:sp>
      <p:sp>
        <p:nvSpPr>
          <p:cNvPr id="7" name="Text 5"/>
          <p:cNvSpPr txBox="1"/>
          <p:nvPr/>
        </p:nvSpPr>
        <p:spPr>
          <a:xfrm>
            <a:off x="457200" y="3383280"/>
            <a:ext cx="2194560" cy="5943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a:t>
            </a:r>
            <a:endParaRPr lang="en-US" sz="4000" dirty="0"/>
          </a:p>
        </p:txBody>
      </p:sp>
      <p:sp>
        <p:nvSpPr>
          <p:cNvPr id="8" name="Text 6"/>
          <p:cNvSpPr txBox="1"/>
          <p:nvPr/>
        </p:nvSpPr>
        <p:spPr>
          <a:xfrm>
            <a:off x="457200" y="4005072"/>
            <a:ext cx="2194560" cy="274320"/>
          </a:xfrm>
          <a:prstGeom prst="rect">
            <a:avLst/>
          </a:prstGeom>
          <a:noFill/>
          <a:ln/>
        </p:spPr>
        <p:txBody>
          <a:bodyPr wrap="square" lIns="0" tIns="0" rIns="0" bIns="0" rtlCol="0" anchor="t"/>
          <a:lstStyle/>
          <a:p>
            <a:pPr indent="0" marL="0">
              <a:buNone/>
            </a:pPr>
            <a:r>
              <a:rPr lang="en-US" sz="1400" dirty="0">
                <a:solidFill>
                  <a:schemeClr val="tx2"/>
                </a:solidFill>
              </a:rPr>
              <a:t>topics MQTT du contrat</a:t>
            </a:r>
            <a:endParaRPr lang="en-US" sz="1400" dirty="0"/>
          </a:p>
        </p:txBody>
      </p:sp>
      <p:sp>
        <p:nvSpPr>
          <p:cNvPr id="9" name="Icône Environnement cercle"/>
          <p:cNvSpPr/>
          <p:nvPr/>
        </p:nvSpPr>
        <p:spPr>
          <a:xfrm>
            <a:off x="3108960" y="1143000"/>
            <a:ext cx="566928" cy="566928"/>
          </a:xfrm>
          <a:prstGeom prst="ellipse">
            <a:avLst/>
          </a:prstGeom>
          <a:solidFill>
            <a:srgbClr val="D90429"/>
          </a:solidFill>
          <a:ln w="12700">
            <a:solidFill>
              <a:srgbClr val="D90429"/>
            </a:solidFill>
            <a:prstDash val="solid"/>
          </a:ln>
        </p:spPr>
      </p:sp>
      <p:pic>
        <p:nvPicPr>
          <p:cNvPr id="10" name="Icône Environnement" descr="Icône Environnement">    </p:cNvPr>
          <p:cNvPicPr>
            <a:picLocks noChangeAspect="1"/>
          </p:cNvPicPr>
          <p:nvPr/>
        </p:nvPicPr>
        <p:blipFill>
          <a:blip r:embed="rId1"/>
          <a:stretch>
            <a:fillRect/>
          </a:stretch>
        </p:blipFill>
        <p:spPr>
          <a:xfrm>
            <a:off x="3250692" y="1284732"/>
            <a:ext cx="283464" cy="283464"/>
          </a:xfrm>
          <a:prstGeom prst="rect">
            <a:avLst/>
          </a:prstGeom>
        </p:spPr>
      </p:pic>
      <p:sp>
        <p:nvSpPr>
          <p:cNvPr id="11" name="Text 8"/>
          <p:cNvSpPr txBox="1"/>
          <p:nvPr/>
        </p:nvSpPr>
        <p:spPr>
          <a:xfrm>
            <a:off x="3886200" y="1124712"/>
            <a:ext cx="47548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Environnement</a:t>
            </a:r>
            <a:endParaRPr lang="en-US" sz="1600" dirty="0"/>
          </a:p>
        </p:txBody>
      </p:sp>
      <p:sp>
        <p:nvSpPr>
          <p:cNvPr id="12" name="Text 9"/>
          <p:cNvSpPr txBox="1"/>
          <p:nvPr/>
        </p:nvSpPr>
        <p:spPr>
          <a:xfrm>
            <a:off x="3886200" y="1417320"/>
            <a:ext cx="4754880" cy="502920"/>
          </a:xfrm>
          <a:prstGeom prst="rect">
            <a:avLst/>
          </a:prstGeom>
          <a:noFill/>
          <a:ln/>
        </p:spPr>
        <p:txBody>
          <a:bodyPr wrap="square" lIns="0" tIns="0" rIns="0" bIns="0" rtlCol="0" anchor="t"/>
          <a:lstStyle/>
          <a:p>
            <a:pPr indent="0" marL="0">
              <a:buNone/>
            </a:pPr>
            <a:r>
              <a:rPr lang="en-US" sz="1400" dirty="0">
                <a:solidFill>
                  <a:schemeClr val="tx2"/>
                </a:solidFill>
              </a:rPr>
              <a:t>Température/humidité (DHT22 / V182), gaz MQ, présence PIR.</a:t>
            </a:r>
            <a:endParaRPr lang="en-US" sz="1400" dirty="0"/>
          </a:p>
        </p:txBody>
      </p:sp>
      <p:sp>
        <p:nvSpPr>
          <p:cNvPr id="13" name="Icône Accès RFID cercle"/>
          <p:cNvSpPr/>
          <p:nvPr/>
        </p:nvSpPr>
        <p:spPr>
          <a:xfrm>
            <a:off x="3108960" y="2011680"/>
            <a:ext cx="566928" cy="566928"/>
          </a:xfrm>
          <a:prstGeom prst="ellipse">
            <a:avLst/>
          </a:prstGeom>
          <a:solidFill>
            <a:srgbClr val="1B2A41"/>
          </a:solidFill>
          <a:ln w="12700">
            <a:solidFill>
              <a:srgbClr val="1B2A41"/>
            </a:solidFill>
            <a:prstDash val="solid"/>
          </a:ln>
        </p:spPr>
      </p:sp>
      <p:pic>
        <p:nvPicPr>
          <p:cNvPr id="14" name="Icône Accès RFID" descr="Icône Accès RFID">    </p:cNvPr>
          <p:cNvPicPr>
            <a:picLocks noChangeAspect="1"/>
          </p:cNvPicPr>
          <p:nvPr/>
        </p:nvPicPr>
        <p:blipFill>
          <a:blip r:embed="rId2"/>
          <a:stretch>
            <a:fillRect/>
          </a:stretch>
        </p:blipFill>
        <p:spPr>
          <a:xfrm>
            <a:off x="3250692" y="2153412"/>
            <a:ext cx="283464" cy="283464"/>
          </a:xfrm>
          <a:prstGeom prst="rect">
            <a:avLst/>
          </a:prstGeom>
        </p:spPr>
      </p:pic>
      <p:sp>
        <p:nvSpPr>
          <p:cNvPr id="15" name="Text 11"/>
          <p:cNvSpPr txBox="1"/>
          <p:nvPr/>
        </p:nvSpPr>
        <p:spPr>
          <a:xfrm>
            <a:off x="3886200" y="1993392"/>
            <a:ext cx="47548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Accès RFID</a:t>
            </a:r>
            <a:endParaRPr lang="en-US" sz="1600" dirty="0"/>
          </a:p>
        </p:txBody>
      </p:sp>
      <p:sp>
        <p:nvSpPr>
          <p:cNvPr id="16" name="Text 12"/>
          <p:cNvSpPr txBox="1"/>
          <p:nvPr/>
        </p:nvSpPr>
        <p:spPr>
          <a:xfrm>
            <a:off x="3886200" y="2286000"/>
            <a:ext cx="4754880" cy="502920"/>
          </a:xfrm>
          <a:prstGeom prst="rect">
            <a:avLst/>
          </a:prstGeom>
          <a:noFill/>
          <a:ln/>
        </p:spPr>
        <p:txBody>
          <a:bodyPr wrap="square" lIns="0" tIns="0" rIns="0" bIns="0" rtlCol="0" anchor="t"/>
          <a:lstStyle/>
          <a:p>
            <a:pPr indent="0" marL="0">
              <a:buNone/>
            </a:pPr>
            <a:r>
              <a:rPr lang="en-US" sz="1400" dirty="0">
                <a:solidFill>
                  <a:schemeClr val="tx2"/>
                </a:solidFill>
              </a:rPr>
              <a:t>RC522 MIFARE : badge signé HMAC-SHA256, compteur anti-clonage.</a:t>
            </a:r>
            <a:endParaRPr lang="en-US" sz="1400" dirty="0"/>
          </a:p>
        </p:txBody>
      </p:sp>
      <p:sp>
        <p:nvSpPr>
          <p:cNvPr id="17" name="Icône Actionneurs cercle"/>
          <p:cNvSpPr/>
          <p:nvPr/>
        </p:nvSpPr>
        <p:spPr>
          <a:xfrm>
            <a:off x="3108960" y="2880360"/>
            <a:ext cx="566928" cy="566928"/>
          </a:xfrm>
          <a:prstGeom prst="ellipse">
            <a:avLst/>
          </a:prstGeom>
          <a:solidFill>
            <a:srgbClr val="D90429"/>
          </a:solidFill>
          <a:ln w="12700">
            <a:solidFill>
              <a:srgbClr val="D90429"/>
            </a:solidFill>
            <a:prstDash val="solid"/>
          </a:ln>
        </p:spPr>
      </p:sp>
      <p:pic>
        <p:nvPicPr>
          <p:cNvPr id="18" name="Icône Actionneurs" descr="Icône Actionneurs">    </p:cNvPr>
          <p:cNvPicPr>
            <a:picLocks noChangeAspect="1"/>
          </p:cNvPicPr>
          <p:nvPr/>
        </p:nvPicPr>
        <p:blipFill>
          <a:blip r:embed="rId3"/>
          <a:stretch>
            <a:fillRect/>
          </a:stretch>
        </p:blipFill>
        <p:spPr>
          <a:xfrm>
            <a:off x="3250692" y="3022092"/>
            <a:ext cx="283464" cy="283464"/>
          </a:xfrm>
          <a:prstGeom prst="rect">
            <a:avLst/>
          </a:prstGeom>
        </p:spPr>
      </p:pic>
      <p:sp>
        <p:nvSpPr>
          <p:cNvPr id="19" name="Text 14"/>
          <p:cNvSpPr txBox="1"/>
          <p:nvPr/>
        </p:nvSpPr>
        <p:spPr>
          <a:xfrm>
            <a:off x="3886200" y="2862072"/>
            <a:ext cx="47548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Actionneurs</a:t>
            </a:r>
            <a:endParaRPr lang="en-US" sz="1600" dirty="0"/>
          </a:p>
        </p:txBody>
      </p:sp>
      <p:sp>
        <p:nvSpPr>
          <p:cNvPr id="20" name="Text 15"/>
          <p:cNvSpPr txBox="1"/>
          <p:nvPr/>
        </p:nvSpPr>
        <p:spPr>
          <a:xfrm>
            <a:off x="3886200" y="3154680"/>
            <a:ext cx="4754880" cy="502920"/>
          </a:xfrm>
          <a:prstGeom prst="rect">
            <a:avLst/>
          </a:prstGeom>
          <a:noFill/>
          <a:ln/>
        </p:spPr>
        <p:txBody>
          <a:bodyPr wrap="square" lIns="0" tIns="0" rIns="0" bIns="0" rtlCol="0" anchor="t"/>
          <a:lstStyle/>
          <a:p>
            <a:pPr indent="0" marL="0">
              <a:buNone/>
            </a:pPr>
            <a:r>
              <a:rPr lang="en-US" sz="1400" dirty="0">
                <a:solidFill>
                  <a:schemeClr val="tx2"/>
                </a:solidFill>
              </a:rPr>
              <a:t>Servos des bras et de la trappe, tête 28BYJ-48 via MCP23017, buzzer, LED RGB.</a:t>
            </a:r>
            <a:endParaRPr lang="en-US" sz="1400" dirty="0"/>
          </a:p>
        </p:txBody>
      </p:sp>
      <p:sp>
        <p:nvSpPr>
          <p:cNvPr id="21" name="Icône Interface locale cercle"/>
          <p:cNvSpPr/>
          <p:nvPr/>
        </p:nvSpPr>
        <p:spPr>
          <a:xfrm>
            <a:off x="3108960" y="3749040"/>
            <a:ext cx="566928" cy="566928"/>
          </a:xfrm>
          <a:prstGeom prst="ellipse">
            <a:avLst/>
          </a:prstGeom>
          <a:solidFill>
            <a:srgbClr val="1B2A41"/>
          </a:solidFill>
          <a:ln w="12700">
            <a:solidFill>
              <a:srgbClr val="1B2A41"/>
            </a:solidFill>
            <a:prstDash val="solid"/>
          </a:ln>
        </p:spPr>
      </p:sp>
      <p:pic>
        <p:nvPicPr>
          <p:cNvPr id="22" name="Icône Interface locale" descr="Icône Interface locale">    </p:cNvPr>
          <p:cNvPicPr>
            <a:picLocks noChangeAspect="1"/>
          </p:cNvPicPr>
          <p:nvPr/>
        </p:nvPicPr>
        <p:blipFill>
          <a:blip r:embed="rId4"/>
          <a:stretch>
            <a:fillRect/>
          </a:stretch>
        </p:blipFill>
        <p:spPr>
          <a:xfrm>
            <a:off x="3250692" y="3890772"/>
            <a:ext cx="283464" cy="283464"/>
          </a:xfrm>
          <a:prstGeom prst="rect">
            <a:avLst/>
          </a:prstGeom>
        </p:spPr>
      </p:pic>
      <p:sp>
        <p:nvSpPr>
          <p:cNvPr id="23" name="Text 17"/>
          <p:cNvSpPr txBox="1"/>
          <p:nvPr/>
        </p:nvSpPr>
        <p:spPr>
          <a:xfrm>
            <a:off x="3886200" y="3730752"/>
            <a:ext cx="47548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Interface locale</a:t>
            </a:r>
            <a:endParaRPr lang="en-US" sz="1600" dirty="0"/>
          </a:p>
        </p:txBody>
      </p:sp>
      <p:sp>
        <p:nvSpPr>
          <p:cNvPr id="24" name="Text 18"/>
          <p:cNvSpPr txBox="1"/>
          <p:nvPr/>
        </p:nvSpPr>
        <p:spPr>
          <a:xfrm>
            <a:off x="3886200" y="4023360"/>
            <a:ext cx="4754880" cy="502920"/>
          </a:xfrm>
          <a:prstGeom prst="rect">
            <a:avLst/>
          </a:prstGeom>
          <a:noFill/>
          <a:ln/>
        </p:spPr>
        <p:txBody>
          <a:bodyPr wrap="square" lIns="0" tIns="0" rIns="0" bIns="0" rtlCol="0" anchor="t"/>
          <a:lstStyle/>
          <a:p>
            <a:pPr indent="0" marL="0">
              <a:buNone/>
            </a:pPr>
            <a:r>
              <a:rPr lang="en-US" sz="1400" dirty="0">
                <a:solidFill>
                  <a:schemeClr val="tx2"/>
                </a:solidFill>
              </a:rPr>
              <a:t>Écran OLED animé : IP, état Wi-Fi, mode écriture de badge.</a:t>
            </a:r>
            <a:endParaRPr lang="en-US" sz="1400" dirty="0"/>
          </a:p>
        </p:txBody>
      </p:sp>
      <p:sp>
        <p:nvSpPr>
          <p:cNvPr id="25" name="Text 19"/>
          <p:cNvSpPr txBox="1"/>
          <p:nvPr/>
        </p:nvSpPr>
        <p:spPr>
          <a:xfrm>
            <a:off x="457200" y="4526280"/>
            <a:ext cx="7315200" cy="22860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firmware/sentinel_core · sentinel_core.ino (992 lignes) · ui_esp32.h</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Modélisation 3D : le jumeau numérique</a:t>
            </a:r>
            <a:endParaRPr lang="en-US" sz="3000" dirty="0"/>
          </a:p>
        </p:txBody>
      </p:sp>
      <p:sp>
        <p:nvSpPr>
          <p:cNvPr id="3" name="Halo modèle"/>
          <p:cNvSpPr/>
          <p:nvPr/>
        </p:nvSpPr>
        <p:spPr>
          <a:xfrm>
            <a:off x="640080" y="1371600"/>
            <a:ext cx="3108960" cy="3108960"/>
          </a:xfrm>
          <a:prstGeom prst="ellipse">
            <a:avLst/>
          </a:prstGeom>
          <a:solidFill>
            <a:schemeClr val="accent1">
              <a:alpha val="15000"/>
            </a:schemeClr>
          </a:solidFill>
          <a:ln w="12700">
            <a:solidFill>
              <a:schemeClr val="accent1"/>
            </a:solidFill>
            <a:prstDash val="solid"/>
          </a:ln>
        </p:spPr>
      </p:sp>
      <p:pic>
        <p:nvPicPr>
          <p:cNvPr id="4" name="Modèle 3D Wall-E" descr="Rendu 3D du robot Wall-E, vue trois quarts">    </p:cNvPr>
          <p:cNvPicPr>
            <a:picLocks noChangeAspect="1"/>
          </p:cNvPicPr>
          <p:nvPr/>
        </p:nvPicPr>
        <p:blipFill>
          <a:blip r:embed="rId1"/>
          <a:stretch>
            <a:fillRect/>
          </a:stretch>
        </p:blipFill>
        <p:spPr>
          <a:xfrm>
            <a:off x="365760" y="1051560"/>
            <a:ext cx="3657600" cy="3657600"/>
          </a:xfrm>
          <a:prstGeom prst="rect">
            <a:avLst/>
          </a:prstGeom>
        </p:spPr>
      </p:pic>
      <p:sp>
        <p:nvSpPr>
          <p:cNvPr id="5" name="Étape 1"/>
          <p:cNvSpPr/>
          <p:nvPr/>
        </p:nvSpPr>
        <p:spPr>
          <a:xfrm>
            <a:off x="4572000" y="118872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4572000" y="1188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5303520" y="1152144"/>
            <a:ext cx="3383280" cy="292608"/>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Modèle source</a:t>
            </a:r>
            <a:endParaRPr lang="en-US" sz="1700" dirty="0"/>
          </a:p>
        </p:txBody>
      </p:sp>
      <p:sp>
        <p:nvSpPr>
          <p:cNvPr id="8" name="Text 5"/>
          <p:cNvSpPr txBox="1"/>
          <p:nvPr/>
        </p:nvSpPr>
        <p:spPr>
          <a:xfrm>
            <a:off x="5303520" y="1463040"/>
            <a:ext cx="3383280" cy="640080"/>
          </a:xfrm>
          <a:prstGeom prst="rect">
            <a:avLst/>
          </a:prstGeom>
          <a:noFill/>
          <a:ln/>
        </p:spPr>
        <p:txBody>
          <a:bodyPr wrap="square" lIns="0" tIns="0" rIns="0" bIns="0" rtlCol="0" anchor="t"/>
          <a:lstStyle/>
          <a:p>
            <a:pPr indent="0" marL="0">
              <a:buNone/>
            </a:pPr>
            <a:r>
              <a:rPr lang="en-US" sz="1400" dirty="0">
                <a:solidFill>
                  <a:srgbClr val="E2E8F0"/>
                </a:solidFill>
              </a:rPr>
              <a:t>Wall-E mark 2 au format FBX, caisse, bras, tête et chenilles.</a:t>
            </a:r>
            <a:endParaRPr lang="en-US" sz="1400" dirty="0"/>
          </a:p>
        </p:txBody>
      </p:sp>
      <p:sp>
        <p:nvSpPr>
          <p:cNvPr id="9" name="Étape 2"/>
          <p:cNvSpPr/>
          <p:nvPr/>
        </p:nvSpPr>
        <p:spPr>
          <a:xfrm>
            <a:off x="4572000" y="228600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4572000" y="22860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1" name="Text 8"/>
          <p:cNvSpPr txBox="1"/>
          <p:nvPr/>
        </p:nvSpPr>
        <p:spPr>
          <a:xfrm>
            <a:off x="5303520" y="2249424"/>
            <a:ext cx="3383280" cy="292608"/>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Conversion en GLB</a:t>
            </a:r>
            <a:endParaRPr lang="en-US" sz="1700" dirty="0"/>
          </a:p>
        </p:txBody>
      </p:sp>
      <p:sp>
        <p:nvSpPr>
          <p:cNvPr id="12" name="Text 9"/>
          <p:cNvSpPr txBox="1"/>
          <p:nvPr/>
        </p:nvSpPr>
        <p:spPr>
          <a:xfrm>
            <a:off x="5303520" y="2560320"/>
            <a:ext cx="3383280" cy="640080"/>
          </a:xfrm>
          <a:prstGeom prst="rect">
            <a:avLst/>
          </a:prstGeom>
          <a:noFill/>
          <a:ln/>
        </p:spPr>
        <p:txBody>
          <a:bodyPr wrap="square" lIns="0" tIns="0" rIns="0" bIns="0" rtlCol="0" anchor="t"/>
          <a:lstStyle/>
          <a:p>
            <a:pPr indent="0" marL="0">
              <a:buNone/>
            </a:pPr>
            <a:r>
              <a:rPr lang="en-US" sz="1400" dirty="0">
                <a:solidFill>
                  <a:srgbClr val="E2E8F0"/>
                </a:solidFill>
              </a:rPr>
              <a:t>Script convert-model.mjs : pièces séparées, couleurs gardées, fichier léger.</a:t>
            </a:r>
            <a:endParaRPr lang="en-US" sz="1400" dirty="0"/>
          </a:p>
        </p:txBody>
      </p:sp>
      <p:sp>
        <p:nvSpPr>
          <p:cNvPr id="13" name="Étape 3"/>
          <p:cNvSpPr/>
          <p:nvPr/>
        </p:nvSpPr>
        <p:spPr>
          <a:xfrm>
            <a:off x="4572000" y="338328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4572000" y="33832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5" name="Text 12"/>
          <p:cNvSpPr txBox="1"/>
          <p:nvPr/>
        </p:nvSpPr>
        <p:spPr>
          <a:xfrm>
            <a:off x="5303520" y="3346704"/>
            <a:ext cx="3383280" cy="292608"/>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Rendu temps réel</a:t>
            </a:r>
            <a:endParaRPr lang="en-US" sz="1700" dirty="0"/>
          </a:p>
        </p:txBody>
      </p:sp>
      <p:sp>
        <p:nvSpPr>
          <p:cNvPr id="16" name="Text 13"/>
          <p:cNvSpPr txBox="1"/>
          <p:nvPr/>
        </p:nvSpPr>
        <p:spPr>
          <a:xfrm>
            <a:off x="5303520" y="3657600"/>
            <a:ext cx="3383280" cy="640080"/>
          </a:xfrm>
          <a:prstGeom prst="rect">
            <a:avLst/>
          </a:prstGeom>
          <a:noFill/>
          <a:ln/>
        </p:spPr>
        <p:txBody>
          <a:bodyPr wrap="square" lIns="0" tIns="0" rIns="0" bIns="0" rtlCol="0" anchor="t"/>
          <a:lstStyle/>
          <a:p>
            <a:pPr indent="0" marL="0">
              <a:buNone/>
            </a:pPr>
            <a:r>
              <a:rPr lang="en-US" sz="1400" dirty="0">
                <a:solidFill>
                  <a:srgbClr val="E2E8F0"/>
                </a:solidFill>
              </a:rPr>
              <a:t>Three.js dans le dashboard : le modèle suit l'état réel du robot.</a:t>
            </a:r>
            <a:endParaRPr lang="en-US" sz="1400" dirty="0"/>
          </a:p>
        </p:txBody>
      </p:sp>
      <p:sp>
        <p:nvSpPr>
          <p:cNvPr id="17" name="Text 14"/>
          <p:cNvSpPr txBox="1"/>
          <p:nvPr/>
        </p:nvSpPr>
        <p:spPr>
          <a:xfrm>
            <a:off x="4572000" y="4526280"/>
            <a:ext cx="4114800" cy="22860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dashboard/scripts/convert-model.mjs · dashboard/public/models/wall-e.glb</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Du modèle 3D aux actionneurs réels</a:t>
            </a:r>
            <a:endParaRPr lang="en-US" sz="3000" dirty="0"/>
          </a:p>
        </p:txBody>
      </p:sp>
      <p:sp>
        <p:nvSpPr>
          <p:cNvPr id="3" name="Cadre Face"/>
          <p:cNvSpPr/>
          <p:nvPr/>
        </p:nvSpPr>
        <p:spPr>
          <a:xfrm>
            <a:off x="457200" y="1188720"/>
            <a:ext cx="1645920" cy="1645920"/>
          </a:xfrm>
          <a:prstGeom prst="roundRect">
            <a:avLst>
              <a:gd name="adj" fmla="val 4444"/>
            </a:avLst>
          </a:prstGeom>
          <a:solidFill>
            <a:schemeClr val="tx1"/>
          </a:solidFill>
          <a:ln w="12700">
            <a:solidFill>
              <a:schemeClr val="tx1"/>
            </a:solidFill>
            <a:prstDash val="solid"/>
          </a:ln>
        </p:spPr>
      </p:sp>
      <p:pic>
        <p:nvPicPr>
          <p:cNvPr id="4" name="Vue Face" descr="Rendu 3D de Wall-E, vue face">    </p:cNvPr>
          <p:cNvPicPr>
            <a:picLocks noChangeAspect="1"/>
          </p:cNvPicPr>
          <p:nvPr/>
        </p:nvPicPr>
        <p:blipFill>
          <a:blip r:embed="rId1"/>
          <a:stretch>
            <a:fillRect/>
          </a:stretch>
        </p:blipFill>
        <p:spPr>
          <a:xfrm>
            <a:off x="502920" y="1234440"/>
            <a:ext cx="1554480" cy="1554480"/>
          </a:xfrm>
          <a:prstGeom prst="rect">
            <a:avLst/>
          </a:prstGeom>
        </p:spPr>
      </p:pic>
      <p:sp>
        <p:nvSpPr>
          <p:cNvPr id="5" name="Text 2"/>
          <p:cNvSpPr txBox="1"/>
          <p:nvPr/>
        </p:nvSpPr>
        <p:spPr>
          <a:xfrm>
            <a:off x="457200" y="2898648"/>
            <a:ext cx="1645920" cy="228600"/>
          </a:xfrm>
          <a:prstGeom prst="rect">
            <a:avLst/>
          </a:prstGeom>
          <a:noFill/>
          <a:ln/>
        </p:spPr>
        <p:txBody>
          <a:bodyPr wrap="square" lIns="0" tIns="0" rIns="0" bIns="0" rtlCol="0" anchor="t"/>
          <a:lstStyle/>
          <a:p>
            <a:pPr algn="ctr" indent="0" marL="0">
              <a:buNone/>
            </a:pPr>
            <a:r>
              <a:rPr lang="en-US" sz="1200" dirty="0">
                <a:solidFill>
                  <a:schemeClr val="accent5"/>
                </a:solidFill>
              </a:rPr>
              <a:t>Face</a:t>
            </a:r>
            <a:endParaRPr lang="en-US" sz="1200" dirty="0"/>
          </a:p>
        </p:txBody>
      </p:sp>
      <p:sp>
        <p:nvSpPr>
          <p:cNvPr id="6" name="Cadre Profil"/>
          <p:cNvSpPr/>
          <p:nvPr/>
        </p:nvSpPr>
        <p:spPr>
          <a:xfrm>
            <a:off x="2240280" y="1188720"/>
            <a:ext cx="1645920" cy="1645920"/>
          </a:xfrm>
          <a:prstGeom prst="roundRect">
            <a:avLst>
              <a:gd name="adj" fmla="val 4444"/>
            </a:avLst>
          </a:prstGeom>
          <a:solidFill>
            <a:schemeClr val="tx1"/>
          </a:solidFill>
          <a:ln w="12700">
            <a:solidFill>
              <a:schemeClr val="tx1"/>
            </a:solidFill>
            <a:prstDash val="solid"/>
          </a:ln>
        </p:spPr>
      </p:sp>
      <p:pic>
        <p:nvPicPr>
          <p:cNvPr id="7" name="Vue Profil" descr="Rendu 3D de Wall-E, vue profil">    </p:cNvPr>
          <p:cNvPicPr>
            <a:picLocks noChangeAspect="1"/>
          </p:cNvPicPr>
          <p:nvPr/>
        </p:nvPicPr>
        <p:blipFill>
          <a:blip r:embed="rId2"/>
          <a:stretch>
            <a:fillRect/>
          </a:stretch>
        </p:blipFill>
        <p:spPr>
          <a:xfrm>
            <a:off x="2286000" y="1234440"/>
            <a:ext cx="1554480" cy="1554480"/>
          </a:xfrm>
          <a:prstGeom prst="rect">
            <a:avLst/>
          </a:prstGeom>
        </p:spPr>
      </p:pic>
      <p:sp>
        <p:nvSpPr>
          <p:cNvPr id="8" name="Text 4"/>
          <p:cNvSpPr txBox="1"/>
          <p:nvPr/>
        </p:nvSpPr>
        <p:spPr>
          <a:xfrm>
            <a:off x="2240280" y="2898648"/>
            <a:ext cx="1645920" cy="228600"/>
          </a:xfrm>
          <a:prstGeom prst="rect">
            <a:avLst/>
          </a:prstGeom>
          <a:noFill/>
          <a:ln/>
        </p:spPr>
        <p:txBody>
          <a:bodyPr wrap="square" lIns="0" tIns="0" rIns="0" bIns="0" rtlCol="0" anchor="t"/>
          <a:lstStyle/>
          <a:p>
            <a:pPr algn="ctr" indent="0" marL="0">
              <a:buNone/>
            </a:pPr>
            <a:r>
              <a:rPr lang="en-US" sz="1200" dirty="0">
                <a:solidFill>
                  <a:schemeClr val="accent5"/>
                </a:solidFill>
              </a:rPr>
              <a:t>Profil</a:t>
            </a:r>
            <a:endParaRPr lang="en-US" sz="1200" dirty="0"/>
          </a:p>
        </p:txBody>
      </p:sp>
      <p:sp>
        <p:nvSpPr>
          <p:cNvPr id="9" name="Cadre Dos"/>
          <p:cNvSpPr/>
          <p:nvPr/>
        </p:nvSpPr>
        <p:spPr>
          <a:xfrm>
            <a:off x="4023360" y="1188720"/>
            <a:ext cx="1645920" cy="1645920"/>
          </a:xfrm>
          <a:prstGeom prst="roundRect">
            <a:avLst>
              <a:gd name="adj" fmla="val 4444"/>
            </a:avLst>
          </a:prstGeom>
          <a:solidFill>
            <a:schemeClr val="tx1"/>
          </a:solidFill>
          <a:ln w="12700">
            <a:solidFill>
              <a:schemeClr val="tx1"/>
            </a:solidFill>
            <a:prstDash val="solid"/>
          </a:ln>
        </p:spPr>
      </p:sp>
      <p:pic>
        <p:nvPicPr>
          <p:cNvPr id="10" name="Vue Dos" descr="Rendu 3D de Wall-E, vue dos">    </p:cNvPr>
          <p:cNvPicPr>
            <a:picLocks noChangeAspect="1"/>
          </p:cNvPicPr>
          <p:nvPr/>
        </p:nvPicPr>
        <p:blipFill>
          <a:blip r:embed="rId3"/>
          <a:stretch>
            <a:fillRect/>
          </a:stretch>
        </p:blipFill>
        <p:spPr>
          <a:xfrm>
            <a:off x="4069080" y="1234440"/>
            <a:ext cx="1554480" cy="1554480"/>
          </a:xfrm>
          <a:prstGeom prst="rect">
            <a:avLst/>
          </a:prstGeom>
        </p:spPr>
      </p:pic>
      <p:sp>
        <p:nvSpPr>
          <p:cNvPr id="11" name="Text 6"/>
          <p:cNvSpPr txBox="1"/>
          <p:nvPr/>
        </p:nvSpPr>
        <p:spPr>
          <a:xfrm>
            <a:off x="4023360" y="2898648"/>
            <a:ext cx="1645920" cy="228600"/>
          </a:xfrm>
          <a:prstGeom prst="rect">
            <a:avLst/>
          </a:prstGeom>
          <a:noFill/>
          <a:ln/>
        </p:spPr>
        <p:txBody>
          <a:bodyPr wrap="square" lIns="0" tIns="0" rIns="0" bIns="0" rtlCol="0" anchor="t"/>
          <a:lstStyle/>
          <a:p>
            <a:pPr algn="ctr" indent="0" marL="0">
              <a:buNone/>
            </a:pPr>
            <a:r>
              <a:rPr lang="en-US" sz="1200" dirty="0">
                <a:solidFill>
                  <a:schemeClr val="accent5"/>
                </a:solidFill>
              </a:rPr>
              <a:t>Dos</a:t>
            </a:r>
            <a:endParaRPr lang="en-US" sz="1200" dirty="0"/>
          </a:p>
        </p:txBody>
      </p:sp>
      <p:sp>
        <p:nvSpPr>
          <p:cNvPr id="12" name="Text 7"/>
          <p:cNvSpPr txBox="1"/>
          <p:nvPr/>
        </p:nvSpPr>
        <p:spPr>
          <a:xfrm>
            <a:off x="457200" y="3383280"/>
            <a:ext cx="5120640" cy="1005840"/>
          </a:xfrm>
          <a:prstGeom prst="rect">
            <a:avLst/>
          </a:prstGeom>
          <a:noFill/>
          <a:ln/>
        </p:spPr>
        <p:txBody>
          <a:bodyPr wrap="square" lIns="0" tIns="0" rIns="0" bIns="0" rtlCol="0" anchor="t"/>
          <a:lstStyle/>
          <a:p>
            <a:pPr indent="0" marL="0">
              <a:buNone/>
            </a:pPr>
            <a:r>
              <a:rPr lang="en-US" sz="1400" dirty="0">
                <a:solidFill>
                  <a:schemeClr val="tx1"/>
                </a:solidFill>
              </a:rPr>
              <a:t>Chaque pièce du modèle correspond à un actionneur piloté par l'ESP32 : bouger le robot réel anime le jumeau.</a:t>
            </a:r>
            <a:endParaRPr lang="en-US" sz="1400" dirty="0"/>
          </a:p>
        </p:txBody>
      </p:sp>
      <p:sp>
        <p:nvSpPr>
          <p:cNvPr id="13" name="Carte pièce 1"/>
          <p:cNvSpPr/>
          <p:nvPr/>
        </p:nvSpPr>
        <p:spPr>
          <a:xfrm>
            <a:off x="5852160" y="1188720"/>
            <a:ext cx="2834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9"/>
          <p:cNvSpPr txBox="1"/>
          <p:nvPr/>
        </p:nvSpPr>
        <p:spPr>
          <a:xfrm>
            <a:off x="6035040" y="1280160"/>
            <a:ext cx="2560320" cy="27432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Tête</a:t>
            </a:r>
            <a:endParaRPr lang="en-US" sz="1500" dirty="0"/>
          </a:p>
        </p:txBody>
      </p:sp>
      <p:sp>
        <p:nvSpPr>
          <p:cNvPr id="15" name="Text 10"/>
          <p:cNvSpPr txBox="1"/>
          <p:nvPr/>
        </p:nvSpPr>
        <p:spPr>
          <a:xfrm>
            <a:off x="6035040" y="1572768"/>
            <a:ext cx="2560320" cy="274320"/>
          </a:xfrm>
          <a:prstGeom prst="rect">
            <a:avLst/>
          </a:prstGeom>
          <a:noFill/>
          <a:ln/>
        </p:spPr>
        <p:txBody>
          <a:bodyPr wrap="square" lIns="0" tIns="0" rIns="0" bIns="0" rtlCol="0" anchor="t"/>
          <a:lstStyle/>
          <a:p>
            <a:pPr indent="0" marL="0">
              <a:buNone/>
            </a:pPr>
            <a:r>
              <a:rPr lang="en-US" sz="1200" dirty="0">
                <a:solidFill>
                  <a:schemeClr val="tx2"/>
                </a:solidFill>
              </a:rPr>
              <a:t>moteur pas à pas 28BYJ-48 (MCP23017)</a:t>
            </a:r>
            <a:endParaRPr lang="en-US" sz="1200" dirty="0"/>
          </a:p>
        </p:txBody>
      </p:sp>
      <p:sp>
        <p:nvSpPr>
          <p:cNvPr id="16" name="Carte pièce 2"/>
          <p:cNvSpPr/>
          <p:nvPr/>
        </p:nvSpPr>
        <p:spPr>
          <a:xfrm>
            <a:off x="5852160" y="2057400"/>
            <a:ext cx="2834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Text 12"/>
          <p:cNvSpPr txBox="1"/>
          <p:nvPr/>
        </p:nvSpPr>
        <p:spPr>
          <a:xfrm>
            <a:off x="6035040" y="2148840"/>
            <a:ext cx="2560320" cy="27432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Bras G / D</a:t>
            </a:r>
            <a:endParaRPr lang="en-US" sz="1500" dirty="0"/>
          </a:p>
        </p:txBody>
      </p:sp>
      <p:sp>
        <p:nvSpPr>
          <p:cNvPr id="18" name="Text 13"/>
          <p:cNvSpPr txBox="1"/>
          <p:nvPr/>
        </p:nvSpPr>
        <p:spPr>
          <a:xfrm>
            <a:off x="6035040" y="2441448"/>
            <a:ext cx="2560320" cy="274320"/>
          </a:xfrm>
          <a:prstGeom prst="rect">
            <a:avLst/>
          </a:prstGeom>
          <a:noFill/>
          <a:ln/>
        </p:spPr>
        <p:txBody>
          <a:bodyPr wrap="square" lIns="0" tIns="0" rIns="0" bIns="0" rtlCol="0" anchor="t"/>
          <a:lstStyle/>
          <a:p>
            <a:pPr indent="0" marL="0">
              <a:buNone/>
            </a:pPr>
            <a:r>
              <a:rPr lang="en-US" sz="1200" dirty="0">
                <a:solidFill>
                  <a:schemeClr val="tx2"/>
                </a:solidFill>
              </a:rPr>
              <a:t>2 micro-servos 9 g</a:t>
            </a:r>
            <a:endParaRPr lang="en-US" sz="1200" dirty="0"/>
          </a:p>
        </p:txBody>
      </p:sp>
      <p:sp>
        <p:nvSpPr>
          <p:cNvPr id="19" name="Carte pièce 3"/>
          <p:cNvSpPr/>
          <p:nvPr/>
        </p:nvSpPr>
        <p:spPr>
          <a:xfrm>
            <a:off x="5852160" y="2926080"/>
            <a:ext cx="2834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ext 15"/>
          <p:cNvSpPr txBox="1"/>
          <p:nvPr/>
        </p:nvSpPr>
        <p:spPr>
          <a:xfrm>
            <a:off x="6035040" y="3017520"/>
            <a:ext cx="2560320" cy="27432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Trappe du dos</a:t>
            </a:r>
            <a:endParaRPr lang="en-US" sz="1500" dirty="0"/>
          </a:p>
        </p:txBody>
      </p:sp>
      <p:sp>
        <p:nvSpPr>
          <p:cNvPr id="21" name="Text 16"/>
          <p:cNvSpPr txBox="1"/>
          <p:nvPr/>
        </p:nvSpPr>
        <p:spPr>
          <a:xfrm>
            <a:off x="6035040" y="3310128"/>
            <a:ext cx="2560320" cy="274320"/>
          </a:xfrm>
          <a:prstGeom prst="rect">
            <a:avLst/>
          </a:prstGeom>
          <a:noFill/>
          <a:ln/>
        </p:spPr>
        <p:txBody>
          <a:bodyPr wrap="square" lIns="0" tIns="0" rIns="0" bIns="0" rtlCol="0" anchor="t"/>
          <a:lstStyle/>
          <a:p>
            <a:pPr indent="0" marL="0">
              <a:buNone/>
            </a:pPr>
            <a:r>
              <a:rPr lang="en-US" sz="1200" dirty="0">
                <a:solidFill>
                  <a:schemeClr val="tx2"/>
                </a:solidFill>
              </a:rPr>
              <a:t>micro-servo, ouvre le sas</a:t>
            </a:r>
            <a:endParaRPr lang="en-US" sz="1200" dirty="0"/>
          </a:p>
        </p:txBody>
      </p:sp>
      <p:sp>
        <p:nvSpPr>
          <p:cNvPr id="22" name="Carte pièce 4"/>
          <p:cNvSpPr/>
          <p:nvPr/>
        </p:nvSpPr>
        <p:spPr>
          <a:xfrm>
            <a:off x="5852160" y="3794760"/>
            <a:ext cx="2834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Text 18"/>
          <p:cNvSpPr txBox="1"/>
          <p:nvPr/>
        </p:nvSpPr>
        <p:spPr>
          <a:xfrm>
            <a:off x="6035040" y="3886200"/>
            <a:ext cx="2560320" cy="27432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Yeux</a:t>
            </a:r>
            <a:endParaRPr lang="en-US" sz="1500" dirty="0"/>
          </a:p>
        </p:txBody>
      </p:sp>
      <p:sp>
        <p:nvSpPr>
          <p:cNvPr id="24" name="Text 19"/>
          <p:cNvSpPr txBox="1"/>
          <p:nvPr/>
        </p:nvSpPr>
        <p:spPr>
          <a:xfrm>
            <a:off x="6035040" y="4178808"/>
            <a:ext cx="2560320" cy="274320"/>
          </a:xfrm>
          <a:prstGeom prst="rect">
            <a:avLst/>
          </a:prstGeom>
          <a:noFill/>
          <a:ln/>
        </p:spPr>
        <p:txBody>
          <a:bodyPr wrap="square" lIns="0" tIns="0" rIns="0" bIns="0" rtlCol="0" anchor="t"/>
          <a:lstStyle/>
          <a:p>
            <a:pPr indent="0" marL="0">
              <a:buNone/>
            </a:pPr>
            <a:r>
              <a:rPr lang="en-US" sz="1200" dirty="0">
                <a:solidFill>
                  <a:schemeClr val="tx2"/>
                </a:solidFill>
              </a:rPr>
              <a:t>clignement animé, état d'alerte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API REST et supervision temps réel</a:t>
            </a:r>
            <a:endParaRPr lang="en-US" sz="3000" dirty="0"/>
          </a:p>
        </p:txBody>
      </p:sp>
      <p:sp>
        <p:nvSpPr>
          <p:cNvPr id="3" name="Carte API"/>
          <p:cNvSpPr/>
          <p:nvPr/>
        </p:nvSpPr>
        <p:spPr>
          <a:xfrm>
            <a:off x="457200" y="1188720"/>
            <a:ext cx="402336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ône API cercle"/>
          <p:cNvSpPr/>
          <p:nvPr/>
        </p:nvSpPr>
        <p:spPr>
          <a:xfrm>
            <a:off x="685800" y="1371600"/>
            <a:ext cx="548640" cy="548640"/>
          </a:xfrm>
          <a:prstGeom prst="ellipse">
            <a:avLst/>
          </a:prstGeom>
          <a:solidFill>
            <a:srgbClr val="D90429"/>
          </a:solidFill>
          <a:ln w="12700">
            <a:solidFill>
              <a:srgbClr val="D90429"/>
            </a:solidFill>
            <a:prstDash val="solid"/>
          </a:ln>
        </p:spPr>
      </p:sp>
      <p:pic>
        <p:nvPicPr>
          <p:cNvPr id="5" name="Icône API" descr="Icône API">    </p:cNvPr>
          <p:cNvPicPr>
            <a:picLocks noChangeAspect="1"/>
          </p:cNvPicPr>
          <p:nvPr/>
        </p:nvPicPr>
        <p:blipFill>
          <a:blip r:embed="rId1"/>
          <a:stretch>
            <a:fillRect/>
          </a:stretch>
        </p:blipFill>
        <p:spPr>
          <a:xfrm>
            <a:off x="822960" y="1508760"/>
            <a:ext cx="274320" cy="274320"/>
          </a:xfrm>
          <a:prstGeom prst="rect">
            <a:avLst/>
          </a:prstGeom>
        </p:spPr>
      </p:pic>
      <p:sp>
        <p:nvSpPr>
          <p:cNvPr id="6" name="Text 3"/>
          <p:cNvSpPr txBox="1"/>
          <p:nvPr/>
        </p:nvSpPr>
        <p:spPr>
          <a:xfrm>
            <a:off x="1371600" y="1481328"/>
            <a:ext cx="301752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Backend : FastAPI</a:t>
            </a:r>
            <a:endParaRPr lang="en-US" sz="1800" dirty="0"/>
          </a:p>
        </p:txBody>
      </p:sp>
      <p:sp>
        <p:nvSpPr>
          <p:cNvPr id="7" name="Text 4"/>
          <p:cNvSpPr txBox="1"/>
          <p:nvPr/>
        </p:nvSpPr>
        <p:spPr>
          <a:xfrm>
            <a:off x="685800" y="2148840"/>
            <a:ext cx="36118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POST /api/v1/alerts : point d'entrée imposé par le sujet</a:t>
            </a:r>
            <a:endParaRPr lang="en-US" sz="1400" dirty="0"/>
          </a:p>
          <a:p>
            <a:pPr marL="342900" indent="-342900">
              <a:spcAft>
                <a:spcPts val="600"/>
              </a:spcAft>
              <a:buSzPct val="100000"/>
              <a:buChar char="•"/>
            </a:pPr>
            <a:r>
              <a:rPr lang="en-US" sz="1400" dirty="0">
                <a:solidFill>
                  <a:schemeClr val="tx1"/>
                </a:solidFill>
              </a:rPr>
              <a:t>Télémétrie, historique, export CSV, agrégats</a:t>
            </a:r>
            <a:endParaRPr lang="en-US" sz="1400" dirty="0"/>
          </a:p>
          <a:p>
            <a:pPr marL="342900" indent="-342900">
              <a:spcAft>
                <a:spcPts val="600"/>
              </a:spcAft>
              <a:buSzPct val="100000"/>
              <a:buChar char="•"/>
            </a:pPr>
            <a:r>
              <a:rPr lang="en-US" sz="1400" dirty="0">
                <a:solidFill>
                  <a:schemeClr val="tx1"/>
                </a:solidFill>
              </a:rPr>
              <a:t>Commandes bornées avant publication MQTT</a:t>
            </a:r>
            <a:endParaRPr lang="en-US" sz="1400" dirty="0"/>
          </a:p>
          <a:p>
            <a:pPr marL="342900" indent="-342900">
              <a:spcAft>
                <a:spcPts val="600"/>
              </a:spcAft>
              <a:buSzPct val="100000"/>
              <a:buChar char="•"/>
            </a:pPr>
            <a:r>
              <a:rPr lang="en-US" sz="1400" dirty="0">
                <a:solidFill>
                  <a:schemeClr val="tx1"/>
                </a:solidFill>
              </a:rPr>
              <a:t>Badges RFID, enrôlement, visages autorisés</a:t>
            </a:r>
            <a:endParaRPr lang="en-US" sz="1400" dirty="0"/>
          </a:p>
        </p:txBody>
      </p:sp>
      <p:sp>
        <p:nvSpPr>
          <p:cNvPr id="8" name="Carte dashboard"/>
          <p:cNvSpPr/>
          <p:nvPr/>
        </p:nvSpPr>
        <p:spPr>
          <a:xfrm>
            <a:off x="4663440" y="1188720"/>
            <a:ext cx="4023360" cy="3337560"/>
          </a:xfrm>
          <a:prstGeom prst="roundRect">
            <a:avLst>
              <a:gd name="adj" fmla="val 2192"/>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9" name="Icône dashboard cercle"/>
          <p:cNvSpPr/>
          <p:nvPr/>
        </p:nvSpPr>
        <p:spPr>
          <a:xfrm>
            <a:off x="4892040" y="1371600"/>
            <a:ext cx="548640" cy="548640"/>
          </a:xfrm>
          <a:prstGeom prst="ellipse">
            <a:avLst/>
          </a:prstGeom>
          <a:solidFill>
            <a:srgbClr val="D90429"/>
          </a:solidFill>
          <a:ln w="12700">
            <a:solidFill>
              <a:srgbClr val="D90429"/>
            </a:solidFill>
            <a:prstDash val="solid"/>
          </a:ln>
        </p:spPr>
      </p:sp>
      <p:pic>
        <p:nvPicPr>
          <p:cNvPr id="10" name="Icône dashboard" descr="Icône dashboard">    </p:cNvPr>
          <p:cNvPicPr>
            <a:picLocks noChangeAspect="1"/>
          </p:cNvPicPr>
          <p:nvPr/>
        </p:nvPicPr>
        <p:blipFill>
          <a:blip r:embed="rId2"/>
          <a:stretch>
            <a:fillRect/>
          </a:stretch>
        </p:blipFill>
        <p:spPr>
          <a:xfrm>
            <a:off x="5029200" y="1508760"/>
            <a:ext cx="274320" cy="274320"/>
          </a:xfrm>
          <a:prstGeom prst="rect">
            <a:avLst/>
          </a:prstGeom>
        </p:spPr>
      </p:pic>
      <p:sp>
        <p:nvSpPr>
          <p:cNvPr id="11" name="Text 7"/>
          <p:cNvSpPr txBox="1"/>
          <p:nvPr/>
        </p:nvSpPr>
        <p:spPr>
          <a:xfrm>
            <a:off x="5577840" y="1481328"/>
            <a:ext cx="3017520" cy="32004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Dashboard : React + Vite</a:t>
            </a:r>
            <a:endParaRPr lang="en-US" sz="1800" dirty="0"/>
          </a:p>
        </p:txBody>
      </p:sp>
      <p:sp>
        <p:nvSpPr>
          <p:cNvPr id="12" name="Text 8"/>
          <p:cNvSpPr txBox="1"/>
          <p:nvPr/>
        </p:nvSpPr>
        <p:spPr>
          <a:xfrm>
            <a:off x="4892040" y="2148840"/>
            <a:ext cx="36118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Courbes en direct (1 s) et état du module</a:t>
            </a:r>
            <a:endParaRPr lang="en-US" sz="1400" dirty="0"/>
          </a:p>
          <a:p>
            <a:pPr marL="342900" indent="-342900">
              <a:spcAft>
                <a:spcPts val="600"/>
              </a:spcAft>
              <a:buSzPct val="100000"/>
              <a:buChar char="•"/>
            </a:pPr>
            <a:r>
              <a:rPr lang="en-US" sz="1400" dirty="0">
                <a:solidFill>
                  <a:schemeClr val="bg1"/>
                </a:solidFill>
              </a:rPr>
              <a:t>Flux vidéo MJPEG avec détections IA</a:t>
            </a:r>
            <a:endParaRPr lang="en-US" sz="1400" dirty="0"/>
          </a:p>
          <a:p>
            <a:pPr marL="342900" indent="-342900">
              <a:spcAft>
                <a:spcPts val="600"/>
              </a:spcAft>
              <a:buSzPct val="100000"/>
              <a:buChar char="•"/>
            </a:pPr>
            <a:r>
              <a:rPr lang="en-US" sz="1400" dirty="0">
                <a:solidFill>
                  <a:schemeClr val="bg1"/>
                </a:solidFill>
              </a:rPr>
              <a:t>Wall-E 3D animé, 3 thèmes, clair/sombre</a:t>
            </a:r>
            <a:endParaRPr lang="en-US" sz="1400" dirty="0"/>
          </a:p>
          <a:p>
            <a:pPr marL="342900" indent="-342900">
              <a:spcAft>
                <a:spcPts val="600"/>
              </a:spcAft>
              <a:buSzPct val="100000"/>
              <a:buChar char="•"/>
            </a:pPr>
            <a:r>
              <a:rPr lang="en-US" sz="1400" dirty="0">
                <a:solidFill>
                  <a:schemeClr val="bg1"/>
                </a:solidFill>
              </a:rPr>
              <a:t>Alarme sonore et halo d'écran en alerte critique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Intelligence artificielle locale</a:t>
            </a:r>
            <a:endParaRPr lang="en-US" sz="3000" dirty="0"/>
          </a:p>
        </p:txBody>
      </p:sp>
      <p:sp>
        <p:nvSpPr>
          <p:cNvPr id="3" name="Carte IA 1"/>
          <p:cNvSpPr/>
          <p:nvPr/>
        </p:nvSpPr>
        <p:spPr>
          <a:xfrm>
            <a:off x="457200" y="1188720"/>
            <a:ext cx="2560320" cy="2788920"/>
          </a:xfrm>
          <a:prstGeom prst="roundRect">
            <a:avLst>
              <a:gd name="adj" fmla="val 285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4" name="Icône Vision : YOLOv8n cercle"/>
          <p:cNvSpPr/>
          <p:nvPr/>
        </p:nvSpPr>
        <p:spPr>
          <a:xfrm>
            <a:off x="685800" y="1371600"/>
            <a:ext cx="594360" cy="594360"/>
          </a:xfrm>
          <a:prstGeom prst="ellipse">
            <a:avLst/>
          </a:prstGeom>
          <a:solidFill>
            <a:srgbClr val="38BDF8"/>
          </a:solidFill>
          <a:ln w="12700">
            <a:solidFill>
              <a:srgbClr val="38BDF8"/>
            </a:solidFill>
            <a:prstDash val="solid"/>
          </a:ln>
        </p:spPr>
      </p:sp>
      <p:pic>
        <p:nvPicPr>
          <p:cNvPr id="5" name="Icône Vision : YOLOv8n" descr="Icône Vision : YOLOv8n">    </p:cNvPr>
          <p:cNvPicPr>
            <a:picLocks noChangeAspect="1"/>
          </p:cNvPicPr>
          <p:nvPr/>
        </p:nvPicPr>
        <p:blipFill>
          <a:blip r:embed="rId1"/>
          <a:stretch>
            <a:fillRect/>
          </a:stretch>
        </p:blipFill>
        <p:spPr>
          <a:xfrm>
            <a:off x="834390" y="1520190"/>
            <a:ext cx="297180" cy="297180"/>
          </a:xfrm>
          <a:prstGeom prst="rect">
            <a:avLst/>
          </a:prstGeom>
        </p:spPr>
      </p:pic>
      <p:sp>
        <p:nvSpPr>
          <p:cNvPr id="6" name="Text 3"/>
          <p:cNvSpPr txBox="1"/>
          <p:nvPr/>
        </p:nvSpPr>
        <p:spPr>
          <a:xfrm>
            <a:off x="685800" y="2103120"/>
            <a:ext cx="214884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Vision : YOLOv8n</a:t>
            </a:r>
            <a:endParaRPr lang="en-US" sz="1700" dirty="0"/>
          </a:p>
        </p:txBody>
      </p:sp>
      <p:sp>
        <p:nvSpPr>
          <p:cNvPr id="7" name="Text 4"/>
          <p:cNvSpPr txBox="1"/>
          <p:nvPr/>
        </p:nvSpPr>
        <p:spPr>
          <a:xfrm>
            <a:off x="685800" y="2468880"/>
            <a:ext cx="2148840" cy="1097280"/>
          </a:xfrm>
          <a:prstGeom prst="rect">
            <a:avLst/>
          </a:prstGeom>
          <a:noFill/>
          <a:ln/>
        </p:spPr>
        <p:txBody>
          <a:bodyPr wrap="square" lIns="0" tIns="0" rIns="0" bIns="0" rtlCol="0" anchor="t"/>
          <a:lstStyle/>
          <a:p>
            <a:pPr indent="0" marL="0">
              <a:buNone/>
            </a:pPr>
            <a:r>
              <a:rPr lang="en-US" sz="1400" dirty="0">
                <a:solidFill>
                  <a:srgbClr val="E2E8F0"/>
                </a:solidFill>
              </a:rPr>
              <a:t>Détection de personnes sur la webcam USB, images réduites (320 px, 5 fps max) pour rester fluide.</a:t>
            </a:r>
            <a:endParaRPr lang="en-US" sz="1400" dirty="0"/>
          </a:p>
        </p:txBody>
      </p:sp>
      <p:sp>
        <p:nvSpPr>
          <p:cNvPr id="8" name="Text 5"/>
          <p:cNvSpPr txBox="1"/>
          <p:nvPr/>
        </p:nvSpPr>
        <p:spPr>
          <a:xfrm>
            <a:off x="685800" y="3611880"/>
            <a:ext cx="219456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sentinel_x/ai/vision.py</a:t>
            </a:r>
            <a:endParaRPr lang="en-US" sz="1000" dirty="0"/>
          </a:p>
        </p:txBody>
      </p:sp>
      <p:sp>
        <p:nvSpPr>
          <p:cNvPr id="9" name="Carte IA 2"/>
          <p:cNvSpPr/>
          <p:nvPr/>
        </p:nvSpPr>
        <p:spPr>
          <a:xfrm>
            <a:off x="3291840" y="1188720"/>
            <a:ext cx="2560320" cy="2788920"/>
          </a:xfrm>
          <a:prstGeom prst="roundRect">
            <a:avLst>
              <a:gd name="adj" fmla="val 285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10" name="Icône Visages autorisés cercle"/>
          <p:cNvSpPr/>
          <p:nvPr/>
        </p:nvSpPr>
        <p:spPr>
          <a:xfrm>
            <a:off x="3520440" y="1371600"/>
            <a:ext cx="594360" cy="594360"/>
          </a:xfrm>
          <a:prstGeom prst="ellipse">
            <a:avLst/>
          </a:prstGeom>
          <a:solidFill>
            <a:srgbClr val="16A34A"/>
          </a:solidFill>
          <a:ln w="12700">
            <a:solidFill>
              <a:srgbClr val="16A34A"/>
            </a:solidFill>
            <a:prstDash val="solid"/>
          </a:ln>
        </p:spPr>
      </p:sp>
      <p:pic>
        <p:nvPicPr>
          <p:cNvPr id="11" name="Icône Visages autorisés" descr="Icône Visages autorisés">    </p:cNvPr>
          <p:cNvPicPr>
            <a:picLocks noChangeAspect="1"/>
          </p:cNvPicPr>
          <p:nvPr/>
        </p:nvPicPr>
        <p:blipFill>
          <a:blip r:embed="rId2"/>
          <a:stretch>
            <a:fillRect/>
          </a:stretch>
        </p:blipFill>
        <p:spPr>
          <a:xfrm>
            <a:off x="3669030" y="1520190"/>
            <a:ext cx="297180" cy="297180"/>
          </a:xfrm>
          <a:prstGeom prst="rect">
            <a:avLst/>
          </a:prstGeom>
        </p:spPr>
      </p:pic>
      <p:sp>
        <p:nvSpPr>
          <p:cNvPr id="12" name="Text 8"/>
          <p:cNvSpPr txBox="1"/>
          <p:nvPr/>
        </p:nvSpPr>
        <p:spPr>
          <a:xfrm>
            <a:off x="3520440" y="2103120"/>
            <a:ext cx="214884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Visages autorisés</a:t>
            </a:r>
            <a:endParaRPr lang="en-US" sz="1700" dirty="0"/>
          </a:p>
        </p:txBody>
      </p:sp>
      <p:sp>
        <p:nvSpPr>
          <p:cNvPr id="13" name="Text 9"/>
          <p:cNvSpPr txBox="1"/>
          <p:nvPr/>
        </p:nvSpPr>
        <p:spPr>
          <a:xfrm>
            <a:off x="3520440" y="2468880"/>
            <a:ext cx="2148840" cy="1097280"/>
          </a:xfrm>
          <a:prstGeom prst="rect">
            <a:avLst/>
          </a:prstGeom>
          <a:noFill/>
          <a:ln/>
        </p:spPr>
        <p:txBody>
          <a:bodyPr wrap="square" lIns="0" tIns="0" rIns="0" bIns="0" rtlCol="0" anchor="t"/>
          <a:lstStyle/>
          <a:p>
            <a:pPr indent="0" marL="0">
              <a:buNone/>
            </a:pPr>
            <a:r>
              <a:rPr lang="en-US" sz="1400" dirty="0">
                <a:solidFill>
                  <a:srgbClr val="E2E8F0"/>
                </a:solidFill>
              </a:rPr>
              <a:t>Vecteurs dlib de 128 nombres. Ajout depuis le dashboard avec consentement, aucune photo conservée.</a:t>
            </a:r>
            <a:endParaRPr lang="en-US" sz="1400" dirty="0"/>
          </a:p>
        </p:txBody>
      </p:sp>
      <p:sp>
        <p:nvSpPr>
          <p:cNvPr id="14" name="Text 10"/>
          <p:cNvSpPr txBox="1"/>
          <p:nvPr/>
        </p:nvSpPr>
        <p:spPr>
          <a:xfrm>
            <a:off x="3520440" y="3611880"/>
            <a:ext cx="219456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authorized_vision.py · face_matcher.py</a:t>
            </a:r>
            <a:endParaRPr lang="en-US" sz="1000" dirty="0"/>
          </a:p>
        </p:txBody>
      </p:sp>
      <p:sp>
        <p:nvSpPr>
          <p:cNvPr id="15" name="Carte IA 3"/>
          <p:cNvSpPr/>
          <p:nvPr/>
        </p:nvSpPr>
        <p:spPr>
          <a:xfrm>
            <a:off x="6126480" y="1188720"/>
            <a:ext cx="2560320" cy="2788920"/>
          </a:xfrm>
          <a:prstGeom prst="roundRect">
            <a:avLst>
              <a:gd name="adj" fmla="val 285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16" name="Icône IA prédictive cercle"/>
          <p:cNvSpPr/>
          <p:nvPr/>
        </p:nvSpPr>
        <p:spPr>
          <a:xfrm>
            <a:off x="6355080" y="1371600"/>
            <a:ext cx="594360" cy="594360"/>
          </a:xfrm>
          <a:prstGeom prst="ellipse">
            <a:avLst/>
          </a:prstGeom>
          <a:solidFill>
            <a:srgbClr val="F59E0B"/>
          </a:solidFill>
          <a:ln w="12700">
            <a:solidFill>
              <a:srgbClr val="F59E0B"/>
            </a:solidFill>
            <a:prstDash val="solid"/>
          </a:ln>
        </p:spPr>
      </p:sp>
      <p:pic>
        <p:nvPicPr>
          <p:cNvPr id="17" name="Icône IA prédictive" descr="Icône IA prédictive">    </p:cNvPr>
          <p:cNvPicPr>
            <a:picLocks noChangeAspect="1"/>
          </p:cNvPicPr>
          <p:nvPr/>
        </p:nvPicPr>
        <p:blipFill>
          <a:blip r:embed="rId3"/>
          <a:stretch>
            <a:fillRect/>
          </a:stretch>
        </p:blipFill>
        <p:spPr>
          <a:xfrm>
            <a:off x="6503670" y="1520190"/>
            <a:ext cx="297180" cy="297180"/>
          </a:xfrm>
          <a:prstGeom prst="rect">
            <a:avLst/>
          </a:prstGeom>
        </p:spPr>
      </p:pic>
      <p:sp>
        <p:nvSpPr>
          <p:cNvPr id="18" name="Text 13"/>
          <p:cNvSpPr txBox="1"/>
          <p:nvPr/>
        </p:nvSpPr>
        <p:spPr>
          <a:xfrm>
            <a:off x="6355080" y="2103120"/>
            <a:ext cx="214884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IA prédictive</a:t>
            </a:r>
            <a:endParaRPr lang="en-US" sz="1700" dirty="0"/>
          </a:p>
        </p:txBody>
      </p:sp>
      <p:sp>
        <p:nvSpPr>
          <p:cNvPr id="19" name="Text 14"/>
          <p:cNvSpPr txBox="1"/>
          <p:nvPr/>
        </p:nvSpPr>
        <p:spPr>
          <a:xfrm>
            <a:off x="6355080" y="2468880"/>
            <a:ext cx="2148840" cy="1097280"/>
          </a:xfrm>
          <a:prstGeom prst="rect">
            <a:avLst/>
          </a:prstGeom>
          <a:noFill/>
          <a:ln/>
        </p:spPr>
        <p:txBody>
          <a:bodyPr wrap="square" lIns="0" tIns="0" rIns="0" bIns="0" rtlCol="0" anchor="t"/>
          <a:lstStyle/>
          <a:p>
            <a:pPr indent="0" marL="0">
              <a:buNone/>
            </a:pPr>
            <a:r>
              <a:rPr lang="en-US" sz="1400" dirty="0">
                <a:solidFill>
                  <a:srgbClr val="E2E8F0"/>
                </a:solidFill>
              </a:rPr>
              <a:t>Isolation Forest (scikit-learn) sur fenêtres glissantes : aucun seuil if temp &gt; 40.</a:t>
            </a:r>
            <a:endParaRPr lang="en-US" sz="1400" dirty="0"/>
          </a:p>
        </p:txBody>
      </p:sp>
      <p:sp>
        <p:nvSpPr>
          <p:cNvPr id="20" name="Text 15"/>
          <p:cNvSpPr txBox="1"/>
          <p:nvPr/>
        </p:nvSpPr>
        <p:spPr>
          <a:xfrm>
            <a:off x="6355080" y="3611880"/>
            <a:ext cx="219456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sentinel_x/ai/anomaly.py</a:t>
            </a:r>
            <a:endParaRPr lang="en-US" sz="1000" dirty="0"/>
          </a:p>
        </p:txBody>
      </p:sp>
      <p:sp>
        <p:nvSpPr>
          <p:cNvPr id="21" name="Text 16"/>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500" b="1" dirty="0">
                <a:solidFill>
                  <a:schemeClr val="accent1"/>
                </a:solidFill>
              </a:rPr>
              <a:t>Inconnu confirmé (3 images sur 5) : </a:t>
            </a:r>
            <a:pPr indent="0" marL="0">
              <a:buNone/>
            </a:pPr>
            <a:r>
              <a:rPr lang="en-US" sz="1500" dirty="0">
                <a:solidFill>
                  <a:schemeClr val="bg1"/>
                </a:solidFill>
              </a:rPr>
              <a:t>alerte INTRUSION_DETECTED critique, alarme du robot, notification Discord.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Infrastructure : 6 conteneurs, 1 Pi</a:t>
            </a:r>
            <a:endParaRPr lang="en-US" sz="3000" dirty="0"/>
          </a:p>
        </p:txBody>
      </p:sp>
      <p:graphicFrame>
        <p:nvGraphicFramePr>
          <p:cNvPr id="3" name="Chart 0" descr=""/>
          <p:cNvGraphicFramePr/>
          <p:nvPr/>
        </p:nvGraphicFramePr>
        <p:xfrm>
          <a:off x="365760" y="114300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88720"/>
            <a:ext cx="29260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93 Mo</a:t>
            </a:r>
            <a:endParaRPr lang="en-US" sz="3200" dirty="0"/>
          </a:p>
        </p:txBody>
      </p:sp>
      <p:sp>
        <p:nvSpPr>
          <p:cNvPr id="5" name="Text 2"/>
          <p:cNvSpPr txBox="1"/>
          <p:nvPr/>
        </p:nvSpPr>
        <p:spPr>
          <a:xfrm>
            <a:off x="5760720" y="1755648"/>
            <a:ext cx="2926080" cy="457200"/>
          </a:xfrm>
          <a:prstGeom prst="rect">
            <a:avLst/>
          </a:prstGeom>
          <a:noFill/>
          <a:ln/>
        </p:spPr>
        <p:txBody>
          <a:bodyPr wrap="square" lIns="0" tIns="0" rIns="0" bIns="0" rtlCol="0" anchor="t"/>
          <a:lstStyle/>
          <a:p>
            <a:pPr indent="0" marL="0">
              <a:buNone/>
            </a:pPr>
            <a:r>
              <a:rPr lang="en-US" sz="1400" dirty="0">
                <a:solidFill>
                  <a:schemeClr val="tx2"/>
                </a:solidFill>
              </a:rPr>
              <a:t>RAM mesurée des conteneurs</a:t>
            </a:r>
            <a:endParaRPr lang="en-US" sz="1400" dirty="0"/>
          </a:p>
        </p:txBody>
      </p:sp>
      <p:sp>
        <p:nvSpPr>
          <p:cNvPr id="6" name="Text 3"/>
          <p:cNvSpPr txBox="1"/>
          <p:nvPr/>
        </p:nvSpPr>
        <p:spPr>
          <a:xfrm>
            <a:off x="5760720" y="2286000"/>
            <a:ext cx="29260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454 Mo</a:t>
            </a:r>
            <a:endParaRPr lang="en-US" sz="3200" dirty="0"/>
          </a:p>
        </p:txBody>
      </p:sp>
      <p:sp>
        <p:nvSpPr>
          <p:cNvPr id="7" name="Text 4"/>
          <p:cNvSpPr txBox="1"/>
          <p:nvPr/>
        </p:nvSpPr>
        <p:spPr>
          <a:xfrm>
            <a:off x="5760720" y="2852928"/>
            <a:ext cx="2926080" cy="457200"/>
          </a:xfrm>
          <a:prstGeom prst="rect">
            <a:avLst/>
          </a:prstGeom>
          <a:noFill/>
          <a:ln/>
        </p:spPr>
        <p:txBody>
          <a:bodyPr wrap="square" lIns="0" tIns="0" rIns="0" bIns="0" rtlCol="0" anchor="t"/>
          <a:lstStyle/>
          <a:p>
            <a:pPr indent="0" marL="0">
              <a:buNone/>
            </a:pPr>
            <a:r>
              <a:rPr lang="en-US" sz="1400" dirty="0">
                <a:solidFill>
                  <a:schemeClr val="tx2"/>
                </a:solidFill>
              </a:rPr>
              <a:t>budget visé, moteur Docker compris</a:t>
            </a:r>
            <a:endParaRPr lang="en-US" sz="1400" dirty="0"/>
          </a:p>
        </p:txBody>
      </p:sp>
      <p:sp>
        <p:nvSpPr>
          <p:cNvPr id="8" name="Text 5"/>
          <p:cNvSpPr txBox="1"/>
          <p:nvPr/>
        </p:nvSpPr>
        <p:spPr>
          <a:xfrm>
            <a:off x="5760720" y="3383280"/>
            <a:ext cx="29260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8883 · 443</a:t>
            </a:r>
            <a:endParaRPr lang="en-US" sz="3200" dirty="0"/>
          </a:p>
        </p:txBody>
      </p:sp>
      <p:sp>
        <p:nvSpPr>
          <p:cNvPr id="9" name="Text 6"/>
          <p:cNvSpPr txBox="1"/>
          <p:nvPr/>
        </p:nvSpPr>
        <p:spPr>
          <a:xfrm>
            <a:off x="5760720" y="3950208"/>
            <a:ext cx="2926080" cy="457200"/>
          </a:xfrm>
          <a:prstGeom prst="rect">
            <a:avLst/>
          </a:prstGeom>
          <a:noFill/>
          <a:ln/>
        </p:spPr>
        <p:txBody>
          <a:bodyPr wrap="square" lIns="0" tIns="0" rIns="0" bIns="0" rtlCol="0" anchor="t"/>
          <a:lstStyle/>
          <a:p>
            <a:pPr indent="0" marL="0">
              <a:buNone/>
            </a:pPr>
            <a:r>
              <a:rPr lang="en-US" sz="1400" dirty="0">
                <a:solidFill>
                  <a:schemeClr val="tx2"/>
                </a:solidFill>
              </a:rPr>
              <a:t>seuls ports applicatifs publiés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Matrice de sécurité</a:t>
            </a:r>
            <a:endParaRPr lang="en-US" sz="3000" dirty="0"/>
          </a:p>
        </p:txBody>
      </p:sp>
      <p:graphicFrame>
        <p:nvGraphicFramePr>
          <p:cNvPr id="12" name="Matrice de sécurité"/>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554480"/>
                <a:gridCol w="6675120"/>
              </a:tblGrid>
              <a:tr h="475488">
                <a:tc>
                  <a:txBody>
                    <a:bodyPr/>
                    <a:lstStyle/>
                    <a:p>
                      <a:pPr indent="0" marL="0">
                        <a:buNone/>
                      </a:pPr>
                      <a:r>
                        <a:rPr lang="en-US" sz="1300" b="1" dirty="0">
                          <a:solidFill>
                            <a:srgbClr val="FFFFFF"/>
                          </a:solidFill>
                        </a:rPr>
                        <a:t>Couche</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220"/>
                    </a:solidFill>
                  </a:tcPr>
                </a:tc>
                <a:tc>
                  <a:txBody>
                    <a:bodyPr/>
                    <a:lstStyle/>
                    <a:p>
                      <a:pPr indent="0" marL="0">
                        <a:buNone/>
                      </a:pPr>
                      <a:r>
                        <a:rPr lang="en-US" sz="1300" b="1" dirty="0">
                          <a:solidFill>
                            <a:srgbClr val="FFFFFF"/>
                          </a:solidFill>
                        </a:rPr>
                        <a:t>Mesure en place</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220"/>
                    </a:solidFill>
                  </a:tcPr>
                </a:tc>
              </a:tr>
              <a:tr h="475488">
                <a:tc>
                  <a:txBody>
                    <a:bodyPr/>
                    <a:lstStyle/>
                    <a:p>
                      <a:pPr indent="0" marL="0">
                        <a:buNone/>
                      </a:pPr>
                      <a:r>
                        <a:rPr lang="en-US" sz="1300" b="1" dirty="0">
                          <a:solidFill>
                            <a:srgbClr val="0B1220"/>
                          </a:solidFill>
                        </a:rPr>
                        <a:t>Flux IoT</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MQTTS 8883, TLS 1.2+ (ECDSA P-256, CA interne), pas de port 1883, pas d'anonyme, ACL par compte</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220"/>
                          </a:solidFill>
                        </a:rPr>
                        <a:t>API</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Comptes personnels, rôles, 2FA TOTP, scrypt, sessions SHA-256, anti brute force, CSP</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220"/>
                          </a:solidFill>
                        </a:rPr>
                        <a:t>Conteneurs</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Non-root, cap_drop ALL, lecture seule, limites RAM/PID, images épinglées</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220"/>
                          </a:solidFill>
                        </a:rPr>
                        <a:t>Hôte</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UFW + DOCKER-USER, SSH par clés uniquement, root interdit</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220"/>
                          </a:solidFill>
                        </a:rPr>
                        <a:t>Badges RFID</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Clés dérivées par badge, contenu signé HMAC, compteur anti-clonage</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220"/>
                          </a:solidFill>
                        </a:rPr>
                        <a:t>Secrets</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220"/>
                          </a:solidFill>
                        </a:rPr>
                        <a:t>Aucun dans le code : .env et secrets.h ignorés par Git, générés par script</a:t>
                      </a:r>
                      <a:endParaRPr lang="en-US" sz="1300" dirty="0"/>
                    </a:p>
                  </a:txBody>
                  <a:tcPr marL="91440" marR="91440"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Audit : prouver, puis corriger</a:t>
            </a:r>
            <a:endParaRPr lang="en-US" sz="3000" dirty="0"/>
          </a:p>
        </p:txBody>
      </p:sp>
      <p:sp>
        <p:nvSpPr>
          <p:cNvPr id="3" name="Carte preuve 1"/>
          <p:cNvSpPr/>
          <p:nvPr/>
        </p:nvSpPr>
        <p:spPr>
          <a:xfrm>
            <a:off x="457200" y="1188720"/>
            <a:ext cx="25603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298448"/>
            <a:ext cx="21945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30 / 30</a:t>
            </a:r>
            <a:endParaRPr lang="en-US" sz="3600" dirty="0"/>
          </a:p>
        </p:txBody>
      </p:sp>
      <p:sp>
        <p:nvSpPr>
          <p:cNvPr id="5" name="Text 3"/>
          <p:cNvSpPr txBox="1"/>
          <p:nvPr/>
        </p:nvSpPr>
        <p:spPr>
          <a:xfrm>
            <a:off x="685800" y="1938528"/>
            <a:ext cx="2194560" cy="457200"/>
          </a:xfrm>
          <a:prstGeom prst="rect">
            <a:avLst/>
          </a:prstGeom>
          <a:noFill/>
          <a:ln/>
        </p:spPr>
        <p:txBody>
          <a:bodyPr wrap="square" lIns="0" tIns="0" rIns="0" bIns="0" rtlCol="0" anchor="t"/>
          <a:lstStyle/>
          <a:p>
            <a:pPr indent="0" marL="0">
              <a:buNone/>
            </a:pPr>
            <a:r>
              <a:rPr lang="en-US" sz="1400" dirty="0">
                <a:solidFill>
                  <a:schemeClr val="tx1"/>
                </a:solidFill>
              </a:rPr>
              <a:t>contrôles automatiques réussis</a:t>
            </a:r>
            <a:endParaRPr lang="en-US" sz="1400" dirty="0"/>
          </a:p>
        </p:txBody>
      </p:sp>
      <p:sp>
        <p:nvSpPr>
          <p:cNvPr id="6" name="Text 4"/>
          <p:cNvSpPr txBox="1"/>
          <p:nvPr/>
        </p:nvSpPr>
        <p:spPr>
          <a:xfrm>
            <a:off x="685800" y="2450592"/>
            <a:ext cx="2194560" cy="228600"/>
          </a:xfrm>
          <a:prstGeom prst="rect">
            <a:avLst/>
          </a:prstGeom>
          <a:noFill/>
          <a:ln/>
        </p:spPr>
        <p:txBody>
          <a:bodyPr wrap="square" lIns="0" tIns="0" rIns="0" bIns="0" rtlCol="0" anchor="t"/>
          <a:lstStyle/>
          <a:p>
            <a:pPr indent="0" marL="0">
              <a:buNone/>
            </a:pPr>
            <a:r>
              <a:rPr lang="en-US" sz="1000" dirty="0">
                <a:solidFill>
                  <a:schemeClr val="accent5"/>
                </a:solidFill>
                <a:latin typeface="Courier New" pitchFamily="34" charset="0"/>
                <a:ea typeface="Courier New" pitchFamily="34" charset="-122"/>
                <a:cs typeface="Courier New" pitchFamily="34" charset="-120"/>
              </a:rPr>
              <a:t>scripts/audit-security.sh</a:t>
            </a:r>
            <a:endParaRPr lang="en-US" sz="1000" dirty="0"/>
          </a:p>
        </p:txBody>
      </p:sp>
      <p:sp>
        <p:nvSpPr>
          <p:cNvPr id="7" name="Carte preuve 2"/>
          <p:cNvSpPr/>
          <p:nvPr/>
        </p:nvSpPr>
        <p:spPr>
          <a:xfrm>
            <a:off x="3291840" y="1188720"/>
            <a:ext cx="25603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520440" y="1298448"/>
            <a:ext cx="21945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32</a:t>
            </a:r>
            <a:endParaRPr lang="en-US" sz="3600" dirty="0"/>
          </a:p>
        </p:txBody>
      </p:sp>
      <p:sp>
        <p:nvSpPr>
          <p:cNvPr id="9" name="Text 7"/>
          <p:cNvSpPr txBox="1"/>
          <p:nvPr/>
        </p:nvSpPr>
        <p:spPr>
          <a:xfrm>
            <a:off x="3520440" y="1938528"/>
            <a:ext cx="2194560" cy="457200"/>
          </a:xfrm>
          <a:prstGeom prst="rect">
            <a:avLst/>
          </a:prstGeom>
          <a:noFill/>
          <a:ln/>
        </p:spPr>
        <p:txBody>
          <a:bodyPr wrap="square" lIns="0" tIns="0" rIns="0" bIns="0" rtlCol="0" anchor="t"/>
          <a:lstStyle/>
          <a:p>
            <a:pPr indent="0" marL="0">
              <a:buNone/>
            </a:pPr>
            <a:r>
              <a:rPr lang="en-US" sz="1400" dirty="0">
                <a:solidFill>
                  <a:schemeClr val="tx1"/>
                </a:solidFill>
              </a:rPr>
              <a:t>vérifications du test de bout en bout</a:t>
            </a:r>
            <a:endParaRPr lang="en-US" sz="1400" dirty="0"/>
          </a:p>
        </p:txBody>
      </p:sp>
      <p:sp>
        <p:nvSpPr>
          <p:cNvPr id="10" name="Text 8"/>
          <p:cNvSpPr txBox="1"/>
          <p:nvPr/>
        </p:nvSpPr>
        <p:spPr>
          <a:xfrm>
            <a:off x="3520440" y="2450592"/>
            <a:ext cx="2194560" cy="228600"/>
          </a:xfrm>
          <a:prstGeom prst="rect">
            <a:avLst/>
          </a:prstGeom>
          <a:noFill/>
          <a:ln/>
        </p:spPr>
        <p:txBody>
          <a:bodyPr wrap="square" lIns="0" tIns="0" rIns="0" bIns="0" rtlCol="0" anchor="t"/>
          <a:lstStyle/>
          <a:p>
            <a:pPr indent="0" marL="0">
              <a:buNone/>
            </a:pPr>
            <a:r>
              <a:rPr lang="en-US" sz="1000" dirty="0">
                <a:solidFill>
                  <a:schemeClr val="accent5"/>
                </a:solidFill>
                <a:latin typeface="Courier New" pitchFamily="34" charset="0"/>
                <a:ea typeface="Courier New" pitchFamily="34" charset="-122"/>
                <a:cs typeface="Courier New" pitchFamily="34" charset="-120"/>
              </a:rPr>
              <a:t>scripts/smoke-test.sh</a:t>
            </a:r>
            <a:endParaRPr lang="en-US" sz="1000" dirty="0"/>
          </a:p>
        </p:txBody>
      </p:sp>
      <p:sp>
        <p:nvSpPr>
          <p:cNvPr id="11" name="Carte preuve 3"/>
          <p:cNvSpPr/>
          <p:nvPr/>
        </p:nvSpPr>
        <p:spPr>
          <a:xfrm>
            <a:off x="6126480" y="1188720"/>
            <a:ext cx="25603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355080" y="1298448"/>
            <a:ext cx="21945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23</a:t>
            </a:r>
            <a:endParaRPr lang="en-US" sz="3600" dirty="0"/>
          </a:p>
        </p:txBody>
      </p:sp>
      <p:sp>
        <p:nvSpPr>
          <p:cNvPr id="13" name="Text 11"/>
          <p:cNvSpPr txBox="1"/>
          <p:nvPr/>
        </p:nvSpPr>
        <p:spPr>
          <a:xfrm>
            <a:off x="6355080" y="1938528"/>
            <a:ext cx="2194560" cy="457200"/>
          </a:xfrm>
          <a:prstGeom prst="rect">
            <a:avLst/>
          </a:prstGeom>
          <a:noFill/>
          <a:ln/>
        </p:spPr>
        <p:txBody>
          <a:bodyPr wrap="square" lIns="0" tIns="0" rIns="0" bIns="0" rtlCol="0" anchor="t"/>
          <a:lstStyle/>
          <a:p>
            <a:pPr indent="0" marL="0">
              <a:buNone/>
            </a:pPr>
            <a:r>
              <a:rPr lang="en-US" sz="1400" dirty="0">
                <a:solidFill>
                  <a:schemeClr val="tx1"/>
                </a:solidFill>
              </a:rPr>
              <a:t>tests unitaires de l'API</a:t>
            </a:r>
            <a:endParaRPr lang="en-US" sz="1400" dirty="0"/>
          </a:p>
        </p:txBody>
      </p:sp>
      <p:sp>
        <p:nvSpPr>
          <p:cNvPr id="14" name="Text 12"/>
          <p:cNvSpPr txBox="1"/>
          <p:nvPr/>
        </p:nvSpPr>
        <p:spPr>
          <a:xfrm>
            <a:off x="6355080" y="2450592"/>
            <a:ext cx="2194560" cy="228600"/>
          </a:xfrm>
          <a:prstGeom prst="rect">
            <a:avLst/>
          </a:prstGeom>
          <a:noFill/>
          <a:ln/>
        </p:spPr>
        <p:txBody>
          <a:bodyPr wrap="square" lIns="0" tIns="0" rIns="0" bIns="0" rtlCol="0" anchor="t"/>
          <a:lstStyle/>
          <a:p>
            <a:pPr indent="0" marL="0">
              <a:buNone/>
            </a:pPr>
            <a:r>
              <a:rPr lang="en-US" sz="1000" dirty="0">
                <a:solidFill>
                  <a:schemeClr val="accent5"/>
                </a:solidFill>
                <a:latin typeface="Courier New" pitchFamily="34" charset="0"/>
                <a:ea typeface="Courier New" pitchFamily="34" charset="-122"/>
                <a:cs typeface="Courier New" pitchFamily="34" charset="-120"/>
              </a:rPr>
              <a:t>api/tests/test_api.py</a:t>
            </a:r>
            <a:endParaRPr lang="en-US" sz="1000" dirty="0"/>
          </a:p>
        </p:txBody>
      </p:sp>
      <p:sp>
        <p:nvSpPr>
          <p:cNvPr id="15" name="Text 13"/>
          <p:cNvSpPr txBox="1"/>
          <p:nvPr/>
        </p:nvSpPr>
        <p:spPr>
          <a:xfrm>
            <a:off x="457200" y="3017520"/>
            <a:ext cx="822960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Ce que l'audit a trouvé, et ce qu'on en a fait</a:t>
            </a:r>
            <a:endParaRPr lang="en-US" sz="1800" dirty="0"/>
          </a:p>
        </p:txBody>
      </p:sp>
      <p:sp>
        <p:nvSpPr>
          <p:cNvPr id="16" name="Text 14"/>
          <p:cNvSpPr txBox="1"/>
          <p:nvPr/>
        </p:nvSpPr>
        <p:spPr>
          <a:xfrm>
            <a:off x="457200" y="3383280"/>
            <a:ext cx="8229600" cy="1188720"/>
          </a:xfrm>
          <a:prstGeom prst="rect">
            <a:avLst/>
          </a:prstGeom>
          <a:noFill/>
          <a:ln/>
        </p:spPr>
        <p:txBody>
          <a:bodyPr wrap="square" lIns="0" tIns="0" rIns="0" bIns="0" rtlCol="0" anchor="t"/>
          <a:lstStyle/>
          <a:p>
            <a:pPr indent="0" marL="0">
              <a:spcAft>
                <a:spcPts val="800"/>
              </a:spcAft>
              <a:buNone/>
            </a:pPr>
            <a:r>
              <a:rPr lang="en-US" sz="1400" b="1" dirty="0">
                <a:solidFill>
                  <a:schemeClr val="accent2"/>
                </a:solidFill>
              </a:rPr>
              <a:t>Corrigé : </a:t>
            </a:r>
            <a:pPr indent="0" marL="0">
              <a:spcAft>
                <a:spcPts val="800"/>
              </a:spcAft>
              <a:buNone/>
            </a:pPr>
            <a:r>
              <a:rPr lang="en-US" sz="1400" dirty="0">
                <a:solidFill>
                  <a:schemeClr val="tx1"/>
                </a:solidFill>
              </a:rPr>
              <a:t>comptes partagés remplacés par des comptes personnels + 2FA, limites de débit, snapshots bornés, journaux nettoyés.</a:t>
            </a:r>
            <a:endParaRPr lang="en-US" sz="1400" dirty="0"/>
          </a:p>
          <a:p>
            <a:pPr indent="0" marL="0">
              <a:spcAft>
                <a:spcPts val="800"/>
              </a:spcAft>
              <a:buNone/>
            </a:pPr>
            <a:r>
              <a:rPr lang="en-US" sz="1400" b="1" dirty="0">
                <a:solidFill>
                  <a:schemeClr val="accent1"/>
                </a:solidFill>
              </a:rPr>
              <a:t>Encore ouvert : </a:t>
            </a:r>
            <a:pPr indent="0" marL="0">
              <a:spcAft>
                <a:spcPts val="800"/>
              </a:spcAft>
              <a:buNone/>
            </a:pPr>
            <a:r>
              <a:rPr lang="en-US" sz="1400" dirty="0">
                <a:solidFill>
                  <a:schemeClr val="tx1"/>
                </a:solidFill>
              </a:rPr>
              <a:t>anciens secrets présents dans l'historique Git public, à purger et à renouveler avant le rendu.</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Démo live : 3 minutes, 4 scénarios</a:t>
            </a:r>
            <a:endParaRPr lang="en-US" sz="3000" dirty="0"/>
          </a:p>
        </p:txBody>
      </p:sp>
      <p:sp>
        <p:nvSpPr>
          <p:cNvPr id="3" name="Pastille 1"/>
          <p:cNvSpPr/>
          <p:nvPr/>
        </p:nvSpPr>
        <p:spPr>
          <a:xfrm>
            <a:off x="457200" y="114300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457200" y="11430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234440" y="1106424"/>
            <a:ext cx="731520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Gaz et chaleur</a:t>
            </a:r>
            <a:endParaRPr lang="en-US" sz="1600" dirty="0"/>
          </a:p>
        </p:txBody>
      </p:sp>
      <p:sp>
        <p:nvSpPr>
          <p:cNvPr id="6" name="Text 4"/>
          <p:cNvSpPr txBox="1"/>
          <p:nvPr/>
        </p:nvSpPr>
        <p:spPr>
          <a:xfrm>
            <a:off x="1234440" y="1399032"/>
            <a:ext cx="7406640" cy="502920"/>
          </a:xfrm>
          <a:prstGeom prst="rect">
            <a:avLst/>
          </a:prstGeom>
          <a:noFill/>
          <a:ln/>
        </p:spPr>
        <p:txBody>
          <a:bodyPr wrap="square" lIns="0" tIns="0" rIns="0" bIns="0" rtlCol="0" anchor="t"/>
          <a:lstStyle/>
          <a:p>
            <a:pPr indent="0" marL="0">
              <a:buNone/>
            </a:pPr>
            <a:r>
              <a:rPr lang="en-US" sz="1400" dirty="0">
                <a:solidFill>
                  <a:schemeClr val="tx2"/>
                </a:solidFill>
              </a:rPr>
              <a:t>On souffle sur le capteur : la courbe monte, l'alerte arrive sur le dashboard et l'écran OLED réagit.</a:t>
            </a:r>
            <a:endParaRPr lang="en-US" sz="1400" dirty="0"/>
          </a:p>
        </p:txBody>
      </p:sp>
      <p:sp>
        <p:nvSpPr>
          <p:cNvPr id="7" name="Pastille 2"/>
          <p:cNvSpPr/>
          <p:nvPr/>
        </p:nvSpPr>
        <p:spPr>
          <a:xfrm>
            <a:off x="457200" y="20116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457200" y="20116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234440" y="1975104"/>
            <a:ext cx="731520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Badge RFID</a:t>
            </a:r>
            <a:endParaRPr lang="en-US" sz="1600" dirty="0"/>
          </a:p>
        </p:txBody>
      </p:sp>
      <p:sp>
        <p:nvSpPr>
          <p:cNvPr id="10" name="Text 8"/>
          <p:cNvSpPr txBox="1"/>
          <p:nvPr/>
        </p:nvSpPr>
        <p:spPr>
          <a:xfrm>
            <a:off x="1234440" y="2267712"/>
            <a:ext cx="7406640" cy="502920"/>
          </a:xfrm>
          <a:prstGeom prst="rect">
            <a:avLst/>
          </a:prstGeom>
          <a:noFill/>
          <a:ln/>
        </p:spPr>
        <p:txBody>
          <a:bodyPr wrap="square" lIns="0" tIns="0" rIns="0" bIns="0" rtlCol="0" anchor="t"/>
          <a:lstStyle/>
          <a:p>
            <a:pPr indent="0" marL="0">
              <a:buNone/>
            </a:pPr>
            <a:r>
              <a:rPr lang="en-US" sz="1400" dirty="0">
                <a:solidFill>
                  <a:schemeClr val="tx2"/>
                </a:solidFill>
              </a:rPr>
              <a:t>Badge valide : la trappe s'ouvre. Badge inconnu : refus et alerte UNAUTHORIZED_ACCESS.</a:t>
            </a:r>
            <a:endParaRPr lang="en-US" sz="1400" dirty="0"/>
          </a:p>
        </p:txBody>
      </p:sp>
      <p:sp>
        <p:nvSpPr>
          <p:cNvPr id="11" name="Pastille 3"/>
          <p:cNvSpPr/>
          <p:nvPr/>
        </p:nvSpPr>
        <p:spPr>
          <a:xfrm>
            <a:off x="457200" y="288036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457200" y="28803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234440" y="2843784"/>
            <a:ext cx="731520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Intrus devant la caméra</a:t>
            </a:r>
            <a:endParaRPr lang="en-US" sz="1600" dirty="0"/>
          </a:p>
        </p:txBody>
      </p:sp>
      <p:sp>
        <p:nvSpPr>
          <p:cNvPr id="14" name="Text 12"/>
          <p:cNvSpPr txBox="1"/>
          <p:nvPr/>
        </p:nvSpPr>
        <p:spPr>
          <a:xfrm>
            <a:off x="1234440" y="3136392"/>
            <a:ext cx="7406640" cy="502920"/>
          </a:xfrm>
          <a:prstGeom prst="rect">
            <a:avLst/>
          </a:prstGeom>
          <a:noFill/>
          <a:ln/>
        </p:spPr>
        <p:txBody>
          <a:bodyPr wrap="square" lIns="0" tIns="0" rIns="0" bIns="0" rtlCol="0" anchor="t"/>
          <a:lstStyle/>
          <a:p>
            <a:pPr indent="0" marL="0">
              <a:buNone/>
            </a:pPr>
            <a:r>
              <a:rPr lang="en-US" sz="1400" dirty="0">
                <a:solidFill>
                  <a:schemeClr val="tx2"/>
                </a:solidFill>
              </a:rPr>
              <a:t>Visage autorisé reconnu ; visage inconnu : alarme du robot et message Discord.</a:t>
            </a:r>
            <a:endParaRPr lang="en-US" sz="1400" dirty="0"/>
          </a:p>
        </p:txBody>
      </p:sp>
      <p:sp>
        <p:nvSpPr>
          <p:cNvPr id="15" name="Pastille 4"/>
          <p:cNvSpPr/>
          <p:nvPr/>
        </p:nvSpPr>
        <p:spPr>
          <a:xfrm>
            <a:off x="457200" y="374904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457200" y="3749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7" name="Text 15"/>
          <p:cNvSpPr txBox="1"/>
          <p:nvPr/>
        </p:nvSpPr>
        <p:spPr>
          <a:xfrm>
            <a:off x="1234440" y="3712464"/>
            <a:ext cx="731520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Contrôle à distance</a:t>
            </a:r>
            <a:endParaRPr lang="en-US" sz="1600" dirty="0"/>
          </a:p>
        </p:txBody>
      </p:sp>
      <p:sp>
        <p:nvSpPr>
          <p:cNvPr id="18" name="Text 16"/>
          <p:cNvSpPr txBox="1"/>
          <p:nvPr/>
        </p:nvSpPr>
        <p:spPr>
          <a:xfrm>
            <a:off x="1234440" y="4005072"/>
            <a:ext cx="7406640" cy="502920"/>
          </a:xfrm>
          <a:prstGeom prst="rect">
            <a:avLst/>
          </a:prstGeom>
          <a:noFill/>
          <a:ln/>
        </p:spPr>
        <p:txBody>
          <a:bodyPr wrap="square" lIns="0" tIns="0" rIns="0" bIns="0" rtlCol="0" anchor="t"/>
          <a:lstStyle/>
          <a:p>
            <a:pPr indent="0" marL="0">
              <a:buNone/>
            </a:pPr>
            <a:r>
              <a:rPr lang="en-US" sz="1400" dirty="0">
                <a:solidFill>
                  <a:schemeClr val="tx2"/>
                </a:solidFill>
              </a:rPr>
              <a:t>Depuis le dashboard : bras, tête, alarme, puis arrêt d'urgence.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Écarts au sujet et limites assumées</a:t>
            </a:r>
            <a:endParaRPr lang="en-US" sz="3000" dirty="0"/>
          </a:p>
        </p:txBody>
      </p:sp>
      <p:sp>
        <p:nvSpPr>
          <p:cNvPr id="3" name="Carte limite 1"/>
          <p:cNvSpPr/>
          <p:nvPr/>
        </p:nvSpPr>
        <p:spPr>
          <a:xfrm>
            <a:off x="457200" y="118872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371600"/>
            <a:ext cx="356616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ESP32 au lieu de l'ESP8266</a:t>
            </a:r>
            <a:endParaRPr lang="en-US" sz="1700" dirty="0"/>
          </a:p>
        </p:txBody>
      </p:sp>
      <p:sp>
        <p:nvSpPr>
          <p:cNvPr id="5" name="Text 3"/>
          <p:cNvSpPr txBox="1"/>
          <p:nvPr/>
        </p:nvSpPr>
        <p:spPr>
          <a:xfrm>
            <a:off x="685800" y="1783080"/>
            <a:ext cx="3566160" cy="777240"/>
          </a:xfrm>
          <a:prstGeom prst="rect">
            <a:avLst/>
          </a:prstGeom>
          <a:noFill/>
          <a:ln/>
        </p:spPr>
        <p:txBody>
          <a:bodyPr wrap="square" lIns="0" tIns="0" rIns="0" bIns="0" rtlCol="0" anchor="t"/>
          <a:lstStyle/>
          <a:p>
            <a:pPr indent="0" marL="0">
              <a:buNone/>
            </a:pPr>
            <a:r>
              <a:rPr lang="en-US" sz="1400" dirty="0">
                <a:solidFill>
                  <a:schemeClr val="tx2"/>
                </a:solidFill>
              </a:rPr>
              <a:t>Plus de GPIO et un ADC 12 bits ; le contrat MQTT reste identique.</a:t>
            </a:r>
            <a:endParaRPr lang="en-US" sz="1400" dirty="0"/>
          </a:p>
        </p:txBody>
      </p:sp>
      <p:sp>
        <p:nvSpPr>
          <p:cNvPr id="6" name="Carte limite 2"/>
          <p:cNvSpPr/>
          <p:nvPr/>
        </p:nvSpPr>
        <p:spPr>
          <a:xfrm>
            <a:off x="4663440" y="118872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892040" y="1371600"/>
            <a:ext cx="356616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Raspberry Pi 3 B+ (1 Go)</a:t>
            </a:r>
            <a:endParaRPr lang="en-US" sz="1700" dirty="0"/>
          </a:p>
        </p:txBody>
      </p:sp>
      <p:sp>
        <p:nvSpPr>
          <p:cNvPr id="8" name="Text 6"/>
          <p:cNvSpPr txBox="1"/>
          <p:nvPr/>
        </p:nvSpPr>
        <p:spPr>
          <a:xfrm>
            <a:off x="4892040" y="1783080"/>
            <a:ext cx="3566160" cy="777240"/>
          </a:xfrm>
          <a:prstGeom prst="rect">
            <a:avLst/>
          </a:prstGeom>
          <a:noFill/>
          <a:ln/>
        </p:spPr>
        <p:txBody>
          <a:bodyPr wrap="square" lIns="0" tIns="0" rIns="0" bIns="0" rtlCol="0" anchor="t"/>
          <a:lstStyle/>
          <a:p>
            <a:pPr indent="0" marL="0">
              <a:buNone/>
            </a:pPr>
            <a:r>
              <a:rPr lang="en-US" sz="1400" dirty="0">
                <a:solidFill>
                  <a:schemeClr val="tx2"/>
                </a:solidFill>
              </a:rPr>
              <a:t>Le sujet cite un Pi 5 ; budget RAM strict, vision exécutée sur une machine dédiée.</a:t>
            </a:r>
            <a:endParaRPr lang="en-US" sz="1400" dirty="0"/>
          </a:p>
        </p:txBody>
      </p:sp>
      <p:sp>
        <p:nvSpPr>
          <p:cNvPr id="9" name="Carte limite 3"/>
          <p:cNvSpPr/>
          <p:nvPr/>
        </p:nvSpPr>
        <p:spPr>
          <a:xfrm>
            <a:off x="457200" y="288036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85800" y="3063240"/>
            <a:ext cx="356616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Badge MIFARE Classic</a:t>
            </a:r>
            <a:endParaRPr lang="en-US" sz="1700" dirty="0"/>
          </a:p>
        </p:txBody>
      </p:sp>
      <p:sp>
        <p:nvSpPr>
          <p:cNvPr id="11" name="Text 9"/>
          <p:cNvSpPr txBox="1"/>
          <p:nvPr/>
        </p:nvSpPr>
        <p:spPr>
          <a:xfrm>
            <a:off x="685800" y="3474720"/>
            <a:ext cx="3566160" cy="777240"/>
          </a:xfrm>
          <a:prstGeom prst="rect">
            <a:avLst/>
          </a:prstGeom>
          <a:noFill/>
          <a:ln/>
        </p:spPr>
        <p:txBody>
          <a:bodyPr wrap="square" lIns="0" tIns="0" rIns="0" bIns="0" rtlCol="0" anchor="t"/>
          <a:lstStyle/>
          <a:p>
            <a:pPr indent="0" marL="0">
              <a:buNone/>
            </a:pPr>
            <a:r>
              <a:rPr lang="en-US" sz="1400" dirty="0">
                <a:solidFill>
                  <a:schemeClr val="tx2"/>
                </a:solidFill>
              </a:rPr>
              <a:t>Clonable en théorie ; atténué par clés par badge, signature et compteur.</a:t>
            </a:r>
            <a:endParaRPr lang="en-US" sz="1400" dirty="0"/>
          </a:p>
        </p:txBody>
      </p:sp>
      <p:sp>
        <p:nvSpPr>
          <p:cNvPr id="12" name="Carte limite 4"/>
          <p:cNvSpPr/>
          <p:nvPr/>
        </p:nvSpPr>
        <p:spPr>
          <a:xfrm>
            <a:off x="4663440" y="288036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892040" y="3063240"/>
            <a:ext cx="356616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Reconnaissance faciale</a:t>
            </a:r>
            <a:endParaRPr lang="en-US" sz="1700" dirty="0"/>
          </a:p>
        </p:txBody>
      </p:sp>
      <p:sp>
        <p:nvSpPr>
          <p:cNvPr id="14" name="Text 12"/>
          <p:cNvSpPr txBox="1"/>
          <p:nvPr/>
        </p:nvSpPr>
        <p:spPr>
          <a:xfrm>
            <a:off x="4892040" y="3474720"/>
            <a:ext cx="3566160" cy="777240"/>
          </a:xfrm>
          <a:prstGeom prst="rect">
            <a:avLst/>
          </a:prstGeom>
          <a:noFill/>
          <a:ln/>
        </p:spPr>
        <p:txBody>
          <a:bodyPr wrap="square" lIns="0" tIns="0" rIns="0" bIns="0" rtlCol="0" anchor="t"/>
          <a:lstStyle/>
          <a:p>
            <a:pPr indent="0" marL="0">
              <a:buNone/>
            </a:pPr>
            <a:r>
              <a:rPr lang="en-US" sz="1400" dirty="0">
                <a:solidFill>
                  <a:schemeClr val="tx2"/>
                </a:solidFill>
              </a:rPr>
              <a:t>Pas de détection de vivacité : jamais seule pour une décision d'accès.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ogo bouclier cercle"/>
          <p:cNvSpPr/>
          <p:nvPr/>
        </p:nvSpPr>
        <p:spPr>
          <a:xfrm>
            <a:off x="548640" y="685800"/>
            <a:ext cx="822960" cy="822960"/>
          </a:xfrm>
          <a:prstGeom prst="ellipse">
            <a:avLst/>
          </a:prstGeom>
          <a:solidFill>
            <a:schemeClr val="accent1"/>
          </a:solidFill>
          <a:ln w="12700">
            <a:solidFill>
              <a:schemeClr val="accent1"/>
            </a:solidFill>
            <a:prstDash val="solid"/>
          </a:ln>
        </p:spPr>
      </p:sp>
      <p:pic>
        <p:nvPicPr>
          <p:cNvPr id="3" name="Logo bouclier" descr="Logo bouclier">    </p:cNvPr>
          <p:cNvPicPr>
            <a:picLocks noChangeAspect="1"/>
          </p:cNvPicPr>
          <p:nvPr/>
        </p:nvPicPr>
        <p:blipFill>
          <a:blip r:embed="rId1"/>
          <a:stretch>
            <a:fillRect/>
          </a:stretch>
        </p:blipFill>
        <p:spPr>
          <a:xfrm>
            <a:off x="754380" y="891540"/>
            <a:ext cx="411480" cy="411480"/>
          </a:xfrm>
          <a:prstGeom prst="rect">
            <a:avLst/>
          </a:prstGeom>
        </p:spPr>
      </p:pic>
      <p:sp>
        <p:nvSpPr>
          <p:cNvPr id="4" name="Text 1"/>
          <p:cNvSpPr txBox="1"/>
          <p:nvPr/>
        </p:nvSpPr>
        <p:spPr>
          <a:xfrm>
            <a:off x="548640" y="1645920"/>
            <a:ext cx="804672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SENTINEL-X : la sécurité à la bordure</a:t>
            </a:r>
            <a:endParaRPr lang="en-US" sz="3600" dirty="0"/>
          </a:p>
        </p:txBody>
      </p:sp>
      <p:sp>
        <p:nvSpPr>
          <p:cNvPr id="5" name="Text 2"/>
          <p:cNvSpPr txBox="1"/>
          <p:nvPr/>
        </p:nvSpPr>
        <p:spPr>
          <a:xfrm>
            <a:off x="548640" y="2560320"/>
            <a:ext cx="7772400" cy="12801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2E8F0"/>
                </a:solidFill>
              </a:rPr>
              <a:t>Un boîtier autonome qui voit, sent et contrôle l'accès.</a:t>
            </a:r>
            <a:endParaRPr lang="en-US" sz="1800" dirty="0"/>
          </a:p>
          <a:p>
            <a:pPr marL="342900" indent="-342900">
              <a:spcAft>
                <a:spcPts val="800"/>
              </a:spcAft>
              <a:buSzPct val="100000"/>
              <a:buChar char="•"/>
            </a:pPr>
            <a:r>
              <a:rPr lang="en-US" sz="1800" dirty="0">
                <a:solidFill>
                  <a:srgbClr val="E2E8F0"/>
                </a:solidFill>
              </a:rPr>
              <a:t>Des flux chiffrés de bout en bout, une pile durcie et auditée.</a:t>
            </a:r>
            <a:endParaRPr lang="en-US" sz="1800" dirty="0"/>
          </a:p>
          <a:p>
            <a:pPr marL="342900" indent="-342900">
              <a:spcAft>
                <a:spcPts val="800"/>
              </a:spcAft>
              <a:buSzPct val="100000"/>
              <a:buChar char="•"/>
            </a:pPr>
            <a:r>
              <a:rPr lang="en-US" sz="1800" dirty="0">
                <a:solidFill>
                  <a:srgbClr val="E2E8F0"/>
                </a:solidFill>
              </a:rPr>
              <a:t>Une IA locale qui prévient avant le seuil critique.</a:t>
            </a:r>
            <a:endParaRPr lang="en-US" sz="1800" dirty="0"/>
          </a:p>
        </p:txBody>
      </p:sp>
      <p:sp>
        <p:nvSpPr>
          <p:cNvPr id="6" name="Text 3"/>
          <p:cNvSpPr txBox="1"/>
          <p:nvPr/>
        </p:nvSpPr>
        <p:spPr>
          <a:xfrm>
            <a:off x="548640" y="4297680"/>
            <a:ext cx="8046720" cy="320040"/>
          </a:xfrm>
          <a:prstGeom prst="rect">
            <a:avLst/>
          </a:prstGeom>
          <a:noFill/>
          <a:ln/>
        </p:spPr>
        <p:txBody>
          <a:bodyPr wrap="square" lIns="0" tIns="0" rIns="0" bIns="0" rtlCol="0" anchor="t"/>
          <a:lstStyle/>
          <a:p>
            <a:pPr indent="0" marL="0">
              <a:buNone/>
            </a:pPr>
            <a:r>
              <a:rPr lang="en-US" sz="1300" dirty="0">
                <a:solidFill>
                  <a:schemeClr val="accent6"/>
                </a:solidFill>
              </a:rPr>
              <a:t>Merci · Questions du jury  |  Code : README.md exhaustif, docs/ et scripts/ dans le dépôt</a:t>
            </a:r>
            <a:endParaRPr lang="en-US" sz="1300" dirty="0"/>
          </a:p>
        </p:txBody>
      </p:sp>
    </p:spTree>
  </p:cSld>
  <p:clrMapOvr>
    <a:masterClrMapping/>
  </p:clrMapOvr>
</p:sld>
</file>

<file path=ppt/theme/theme1.xml><?xml version="1.0" encoding="utf-8"?>
<a:theme xmlns:a="http://schemas.openxmlformats.org/drawingml/2006/main" name="SENTINEL-X">
  <a:themeElements>
    <a:clrScheme name="SENTINEL-X">
      <a:dk1>
        <a:srgbClr val="0B1220"/>
      </a:dk1>
      <a:lt1>
        <a:srgbClr val="FFFFFF"/>
      </a:lt1>
      <a:dk2>
        <a:srgbClr val="1B2A41"/>
      </a:dk2>
      <a:lt2>
        <a:srgbClr val="EEF2F7"/>
      </a:lt2>
      <a:accent1>
        <a:srgbClr val="D90429"/>
      </a:accent1>
      <a:accent2>
        <a:srgbClr val="16A34A"/>
      </a:accent2>
      <a:accent3>
        <a:srgbClr val="F59E0B"/>
      </a:accent3>
      <a:accent4>
        <a:srgbClr val="38BDF8"/>
      </a:accent4>
      <a:accent5>
        <a:srgbClr val="64748B"/>
      </a:accent5>
      <a:accent6>
        <a:srgbClr val="94A3B8"/>
      </a:accent6>
      <a:hlink>
        <a:srgbClr val="38BDF8"/>
      </a:hlink>
      <a:folHlink>
        <a:srgbClr val="94A3B8"/>
      </a:folHlink>
    </a:clrScheme>
    <a:fontScheme name="SENTINEL-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SENTINEL-X — Soutenance Workshop BAC+4</dc:title>
  <dc:subject>PptxGenJS Presentation</dc:subject>
  <dc:creator>Consortium SENTINEL-X</dc:creator>
  <cp:lastModifiedBy>Consortium SENTINEL-X</cp:lastModifiedBy>
  <cp:revision>1</cp:revision>
  <dcterms:created xsi:type="dcterms:W3CDTF">2026-10-08T13:34:01Z</dcterms:created>
  <dcterms:modified xsi:type="dcterms:W3CDTF">2026-10-08T13:34:01Z</dcterms:modified>
</cp:coreProperties>
</file>